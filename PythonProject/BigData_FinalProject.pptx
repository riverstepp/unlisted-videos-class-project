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124_BA20C3EE.xml" ContentType="application/vnd.ms-powerpoint.comments+xml"/>
  <Override PartName="/ppt/comments/modernComment_12B_F4A6A599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5" r:id="rId1"/>
  </p:sldMasterIdLst>
  <p:notesMasterIdLst>
    <p:notesMasterId r:id="rId23"/>
  </p:notesMasterIdLst>
  <p:handoutMasterIdLst>
    <p:handoutMasterId r:id="rId24"/>
  </p:handoutMasterIdLst>
  <p:sldIdLst>
    <p:sldId id="262" r:id="rId2"/>
    <p:sldId id="259" r:id="rId3"/>
    <p:sldId id="291" r:id="rId4"/>
    <p:sldId id="283" r:id="rId5"/>
    <p:sldId id="302" r:id="rId6"/>
    <p:sldId id="303" r:id="rId7"/>
    <p:sldId id="285" r:id="rId8"/>
    <p:sldId id="294" r:id="rId9"/>
    <p:sldId id="295" r:id="rId10"/>
    <p:sldId id="296" r:id="rId11"/>
    <p:sldId id="292" r:id="rId12"/>
    <p:sldId id="304" r:id="rId13"/>
    <p:sldId id="297" r:id="rId14"/>
    <p:sldId id="286" r:id="rId15"/>
    <p:sldId id="298" r:id="rId16"/>
    <p:sldId id="305" r:id="rId17"/>
    <p:sldId id="289" r:id="rId18"/>
    <p:sldId id="300" r:id="rId19"/>
    <p:sldId id="301" r:id="rId20"/>
    <p:sldId id="290" r:id="rId21"/>
    <p:sldId id="299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C5E41AB-2241-731D-F637-3CCB836A0839}" name="River M Stepp" initials="RS" userId="S::2857417@vikes.csuohio.edu::ee194548-c72e-467f-be79-e8527f290789" providerId="AD"/>
  <p188:author id="{539E5CB7-0B1E-8D7B-B033-5604708C75B3}" name="Quynh T Tran" initials="QT" userId="S::2777918@vikes.csuohio.edu::5808074a-1967-469b-8bb8-915d856542b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5E5"/>
    <a:srgbClr val="FAC747"/>
    <a:srgbClr val="1B2D4E"/>
    <a:srgbClr val="006A4D"/>
    <a:srgbClr val="69BE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E0880-FA17-AC92-37E1-052CE5669379}" v="192" vWet="194" dt="2025-12-04T21:25:22.237"/>
    <p1510:client id="{39C5054C-58CA-BDF1-03F2-6B0BE68B9646}" v="19" dt="2025-12-04T04:59:47.525"/>
    <p1510:client id="{41532406-033B-D698-C20D-9EA985DA6915}" v="2944" dt="2025-12-04T23:22:42.354"/>
    <p1510:client id="{45452C4B-FA04-17A8-440E-6DE1E27A5C03}" v="2525" dt="2025-12-04T18:17:56.967"/>
    <p1510:client id="{5FF2526D-9F4D-E4F7-43CE-995BF810BA54}" v="124" dt="2025-12-04T21:17:49.363"/>
    <p1510:client id="{6AB08F71-A56C-01F6-CA86-CDD9B8A79D49}" v="7444" dt="2025-12-04T01:31:05.872"/>
    <p1510:client id="{AD749D58-CE3A-F1A9-D792-11DF17953C12}" v="38" dt="2025-12-04T22:12:20.921"/>
    <p1510:client id="{BF58E62A-493E-CF62-FB71-CFC4CABBCB37}" v="3447" dt="2025-12-04T04:43:25.440"/>
    <p1510:client id="{FC5C198A-EA67-67C6-514D-594CED1C8939}" v="317" dt="2025-12-04T16:55:52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omments/modernComment_12B_F4A6A59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502ADF0-2E08-41DD-BB20-F9BBD03D6E57}" authorId="{AC5E41AB-2241-731D-F637-3CCB836A0839}" created="2025-12-04T04:59:47.52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104562073" sldId="299"/>
      <ac:picMk id="6" creationId="{38B22211-3151-350D-6E36-1C4241A57A76}"/>
    </ac:deMkLst>
    <p188:txBody>
      <a:bodyPr/>
      <a:lstStyle/>
      <a:p>
        <a:r>
          <a:rPr lang="en-US"/>
          <a:t>🔥</a:t>
        </a:r>
      </a:p>
    </p188:txBody>
  </p188:cm>
</p188:cmLst>
</file>

<file path=ppt/comments/modernComment_124_BA20C3E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CABEDA9-3BB4-4C55-A8D5-AF2EBFD30433}" authorId="{AC5E41AB-2241-731D-F637-3CCB836A0839}" created="2025-12-04T04:48:39.15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122709486" sldId="292"/>
      <ac:spMk id="2" creationId="{0C5F9E34-EA3C-D450-A21C-462F8F8AB626}"/>
    </ac:deMkLst>
    <p188:txBody>
      <a:bodyPr/>
      <a:lstStyle/>
      <a:p>
        <a:r>
          <a:rPr lang="en-US"/>
          <a:t>Since there are a lot of fields, we can just pull up the "example record" file from the group chat and scroll through it 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12-04T17:47:00.966" authorId="{539E5CB7-0B1E-8D7B-B033-5604708C75B3}"/>
          </p223:rxn>
        </p223:reactions>
      </p:ext>
    </p188:extLst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AAF8CC2-39A1-F008-447E-F3926E3CC8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5AF288-0118-611D-AEE4-82BD0798E5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3EEAAA-D500-4D81-86F2-EB38F65BFF4D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1B9E4A-204E-FB32-BEED-3FA6EF39FDF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2F71C3-2803-6D75-4D80-C4930E18A9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EFE11-F0CA-4DFD-8FFF-B938D393F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0598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7F1A5B-1DD4-4DEA-BF13-D2607E18AE27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284495-F8FC-4504-A874-E770E0C71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54189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197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753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331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7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26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7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6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785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367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677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71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5198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svg"/><Relationship Id="rId18" Type="http://schemas.openxmlformats.org/officeDocument/2006/relationships/image" Target="../media/image36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8.svg"/><Relationship Id="rId2" Type="http://schemas.openxmlformats.org/officeDocument/2006/relationships/image" Target="../media/image22.png"/><Relationship Id="rId16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svg"/><Relationship Id="rId11" Type="http://schemas.openxmlformats.org/officeDocument/2006/relationships/image" Target="../media/image31.svg"/><Relationship Id="rId5" Type="http://schemas.openxmlformats.org/officeDocument/2006/relationships/image" Target="../media/image25.png"/><Relationship Id="rId15" Type="http://schemas.openxmlformats.org/officeDocument/2006/relationships/image" Target="../media/image35.svg"/><Relationship Id="rId10" Type="http://schemas.openxmlformats.org/officeDocument/2006/relationships/image" Target="../media/image30.png"/><Relationship Id="rId19" Type="http://schemas.openxmlformats.org/officeDocument/2006/relationships/image" Target="../media/image37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4_BA20C3EE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sv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gif"/><Relationship Id="rId2" Type="http://schemas.microsoft.com/office/2018/10/relationships/comments" Target="../comments/modernComment_12B_F4A6A59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41D89E-28CA-80C1-998C-4BB2A37BE7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4963" y="1710490"/>
            <a:ext cx="10665958" cy="238791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700">
                <a:solidFill>
                  <a:srgbClr val="FFFFFF"/>
                </a:solidFill>
                <a:latin typeface="Trade Gothic Next Heavy"/>
              </a:rPr>
              <a:t>Unlisted YouTube</a:t>
            </a:r>
            <a:br>
              <a:rPr lang="en-US" sz="6700">
                <a:solidFill>
                  <a:srgbClr val="FFFFFF"/>
                </a:solidFill>
                <a:latin typeface="Trade Gothic Next Heavy"/>
              </a:rPr>
            </a:br>
            <a:r>
              <a:rPr lang="en-US" sz="6700">
                <a:solidFill>
                  <a:srgbClr val="FFFFFF"/>
                </a:solidFill>
                <a:latin typeface="Trade Gothic Next Heavy"/>
              </a:rPr>
              <a:t>ETL Data </a:t>
            </a:r>
            <a:r>
              <a:rPr lang="en-US" sz="6700">
                <a:latin typeface="Trade Gothic Next Heavy"/>
              </a:rPr>
              <a:t>Warehousing</a:t>
            </a:r>
            <a:br>
              <a:rPr lang="en-US" sz="6700">
                <a:latin typeface="Trade Gothic Next Heavy"/>
              </a:rPr>
            </a:br>
            <a:r>
              <a:rPr lang="en-US" sz="6700">
                <a:latin typeface="Trade Gothic Next Heavy"/>
              </a:rPr>
              <a:t>&amp; Cloud Search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ABAC036-AD3F-E368-7DB8-D55D4C6471D2}"/>
              </a:ext>
            </a:extLst>
          </p:cNvPr>
          <p:cNvSpPr txBox="1"/>
          <p:nvPr/>
        </p:nvSpPr>
        <p:spPr>
          <a:xfrm>
            <a:off x="3048000" y="4261134"/>
            <a:ext cx="6096000" cy="13311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rtl="0">
              <a:lnSpc>
                <a:spcPts val="1500"/>
              </a:lnSpc>
            </a:pPr>
            <a:r>
              <a:rPr lang="en-US" sz="2000" baseline="0">
                <a:solidFill>
                  <a:srgbClr val="FFFFFF"/>
                </a:solidFill>
                <a:latin typeface="Trade Gothic Next Cond"/>
                <a:ea typeface="Segoe UI"/>
                <a:cs typeface="Segoe UI"/>
              </a:rPr>
              <a:t>Carver Ossoff [2677568]</a:t>
            </a:r>
            <a:r>
              <a:rPr lang="en-US" sz="2000">
                <a:solidFill>
                  <a:srgbClr val="FFFFFF"/>
                </a:solidFill>
                <a:latin typeface="Trade Gothic Next Cond"/>
                <a:ea typeface="Segoe UI"/>
                <a:cs typeface="Segoe UI"/>
              </a:rPr>
              <a:t>​</a:t>
            </a:r>
          </a:p>
          <a:p>
            <a:pPr algn="ctr">
              <a:lnSpc>
                <a:spcPts val="1500"/>
              </a:lnSpc>
            </a:pPr>
            <a:endParaRPr lang="en-US" sz="2000">
              <a:solidFill>
                <a:srgbClr val="FFFFFF"/>
              </a:solidFill>
              <a:latin typeface="Trade Gothic Next Cond"/>
              <a:ea typeface="Segoe UI"/>
              <a:cs typeface="Segoe UI"/>
            </a:endParaRPr>
          </a:p>
          <a:p>
            <a:pPr algn="ctr" rtl="0">
              <a:lnSpc>
                <a:spcPts val="1500"/>
              </a:lnSpc>
            </a:pPr>
            <a:r>
              <a:rPr lang="en-US" sz="2000" baseline="0">
                <a:solidFill>
                  <a:srgbClr val="FFFFFF"/>
                </a:solidFill>
                <a:latin typeface="Trade Gothic Next Cond"/>
                <a:ea typeface="Segoe UI"/>
                <a:cs typeface="Segoe UI"/>
              </a:rPr>
              <a:t>River Stepp [2857417]</a:t>
            </a:r>
            <a:r>
              <a:rPr lang="en-US" sz="2000">
                <a:solidFill>
                  <a:srgbClr val="FFFFFF"/>
                </a:solidFill>
                <a:latin typeface="Trade Gothic Next Cond"/>
                <a:ea typeface="Segoe UI"/>
                <a:cs typeface="Segoe UI"/>
              </a:rPr>
              <a:t>​</a:t>
            </a:r>
          </a:p>
          <a:p>
            <a:pPr algn="ctr">
              <a:lnSpc>
                <a:spcPts val="1500"/>
              </a:lnSpc>
            </a:pPr>
            <a:endParaRPr lang="en-US" sz="2000">
              <a:solidFill>
                <a:srgbClr val="FFFFFF"/>
              </a:solidFill>
              <a:latin typeface="Trade Gothic Next Cond"/>
              <a:ea typeface="Segoe UI"/>
              <a:cs typeface="Segoe UI"/>
            </a:endParaRPr>
          </a:p>
          <a:p>
            <a:pPr algn="ctr" rtl="0">
              <a:lnSpc>
                <a:spcPts val="1500"/>
              </a:lnSpc>
            </a:pPr>
            <a:r>
              <a:rPr lang="en-US" sz="2000" baseline="0">
                <a:solidFill>
                  <a:srgbClr val="FFFFFF"/>
                </a:solidFill>
                <a:latin typeface="Trade Gothic Next Cond"/>
                <a:ea typeface="Segoe UI"/>
                <a:cs typeface="Segoe UI"/>
              </a:rPr>
              <a:t>Quynh Tran [2777918]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170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63A3E6E-9E0A-8F68-8630-7CA1CC9C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7830" y="464584"/>
            <a:ext cx="7693314" cy="772791"/>
          </a:xfrm>
        </p:spPr>
        <p:txBody>
          <a:bodyPr lIns="91440" tIns="45720" rIns="91440" bIns="45720">
            <a:normAutofit/>
          </a:bodyPr>
          <a:lstStyle/>
          <a:p>
            <a:pPr algn="r"/>
            <a:r>
              <a:rPr lang="en-US" sz="3600">
                <a:solidFill>
                  <a:schemeClr val="tx2"/>
                </a:solidFill>
                <a:latin typeface="Trade Gothic Next Heavy"/>
              </a:rPr>
              <a:t>Project Overview &amp; Goals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The Earth Logo In Color Line Design Vector, A Lineal Icon Depicting Planet  Earth On White Background, Vector Illustration By Flat Icon And Dribbble,  Behance Hd PNG and Vector with Transparent Background">
            <a:extLst>
              <a:ext uri="{FF2B5EF4-FFF2-40B4-BE49-F238E27FC236}">
                <a16:creationId xmlns:a16="http://schemas.microsoft.com/office/drawing/2014/main" id="{D8FC284B-DE08-44A0-DA9C-EDF14B48F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00" y="4771371"/>
            <a:ext cx="1229639" cy="1219202"/>
          </a:xfrm>
          <a:prstGeom prst="rect">
            <a:avLst/>
          </a:prstGeom>
        </p:spPr>
      </p:pic>
      <p:pic>
        <p:nvPicPr>
          <p:cNvPr id="5" name="Graphic 4" descr="Cloud with solid fill">
            <a:extLst>
              <a:ext uri="{FF2B5EF4-FFF2-40B4-BE49-F238E27FC236}">
                <a16:creationId xmlns:a16="http://schemas.microsoft.com/office/drawing/2014/main" id="{764B3392-6087-FD76-B8B4-E55C7621C8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5674" y="-259640"/>
            <a:ext cx="2281824" cy="2240072"/>
          </a:xfrm>
          <a:prstGeom prst="rect">
            <a:avLst/>
          </a:prstGeom>
        </p:spPr>
      </p:pic>
      <p:pic>
        <p:nvPicPr>
          <p:cNvPr id="6" name="Graphic 5" descr="Plugged Unplugged with solid fill">
            <a:extLst>
              <a:ext uri="{FF2B5EF4-FFF2-40B4-BE49-F238E27FC236}">
                <a16:creationId xmlns:a16="http://schemas.microsoft.com/office/drawing/2014/main" id="{5A317DF0-6C47-B6CE-F1DF-60951061F7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8900000">
            <a:off x="2529488" y="783735"/>
            <a:ext cx="736948" cy="7160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A7F238-5CB6-C15A-CE1D-0A7E8B68B06E}"/>
              </a:ext>
            </a:extLst>
          </p:cNvPr>
          <p:cNvSpPr txBox="1"/>
          <p:nvPr/>
        </p:nvSpPr>
        <p:spPr>
          <a:xfrm>
            <a:off x="863312" y="1142386"/>
            <a:ext cx="1356987" cy="5873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rtl="0">
              <a:lnSpc>
                <a:spcPts val="1650"/>
              </a:lnSpc>
            </a:pPr>
            <a:r>
              <a:rPr lang="en-US" sz="2000" b="1">
                <a:solidFill>
                  <a:schemeClr val="bg1"/>
                </a:solidFill>
                <a:latin typeface="Calibri"/>
                <a:ea typeface="Segoe UI"/>
                <a:cs typeface="Segoe UI"/>
              </a:rPr>
              <a:t>YouTube</a:t>
            </a:r>
            <a:endParaRPr lang="en-US" sz="2000" b="1" baseline="0">
              <a:solidFill>
                <a:schemeClr val="bg1"/>
              </a:solidFill>
              <a:latin typeface="Calibri"/>
              <a:ea typeface="Segoe UI"/>
              <a:cs typeface="Segoe UI"/>
            </a:endParaRPr>
          </a:p>
          <a:p>
            <a:pPr algn="ctr"/>
            <a:endParaRPr lang="en-US"/>
          </a:p>
        </p:txBody>
      </p:sp>
      <p:pic>
        <p:nvPicPr>
          <p:cNvPr id="12" name="Picture 11" descr="File:Youtube-logo-png-photo-0.png - Interstellar Rift Wiki">
            <a:extLst>
              <a:ext uri="{FF2B5EF4-FFF2-40B4-BE49-F238E27FC236}">
                <a16:creationId xmlns:a16="http://schemas.microsoft.com/office/drawing/2014/main" id="{E03197AC-4E27-4A16-14C9-4B27BDD3657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336" t="28496" r="-2435" b="27079"/>
          <a:stretch>
            <a:fillRect/>
          </a:stretch>
        </p:blipFill>
        <p:spPr>
          <a:xfrm>
            <a:off x="890034" y="571582"/>
            <a:ext cx="1287837" cy="59010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FC841D4B-4E2E-8E77-AB63-B2C8CB9D11EA}"/>
              </a:ext>
            </a:extLst>
          </p:cNvPr>
          <p:cNvSpPr txBox="1"/>
          <p:nvPr/>
        </p:nvSpPr>
        <p:spPr>
          <a:xfrm>
            <a:off x="3306809" y="919070"/>
            <a:ext cx="1075152" cy="323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rtl="0">
              <a:lnSpc>
                <a:spcPts val="1650"/>
              </a:lnSpc>
            </a:pPr>
            <a:r>
              <a:rPr lang="en-US" sz="2000" b="1">
                <a:solidFill>
                  <a:schemeClr val="tx1"/>
                </a:solidFill>
                <a:ea typeface="Calibri"/>
                <a:cs typeface="Segoe UI"/>
              </a:rPr>
              <a:t>API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10ED37-AB81-CD3D-EEC5-11492320E44A}"/>
              </a:ext>
            </a:extLst>
          </p:cNvPr>
          <p:cNvSpPr txBox="1"/>
          <p:nvPr/>
        </p:nvSpPr>
        <p:spPr>
          <a:xfrm>
            <a:off x="880564" y="2308505"/>
            <a:ext cx="4028103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latin typeface="Calibri"/>
                <a:ea typeface="Calibri"/>
                <a:cs typeface="Calibri"/>
              </a:rPr>
              <a:t>Data is collected, parsed, and inserted into a databases</a:t>
            </a:r>
            <a:endParaRPr lang="en-US"/>
          </a:p>
          <a:p>
            <a:pPr marL="342900" indent="-342900">
              <a:buFont typeface="Arial"/>
              <a:buChar char="•"/>
            </a:pPr>
            <a:endParaRPr lang="en-US" sz="2000" b="1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</p:txBody>
      </p:sp>
      <p:pic>
        <p:nvPicPr>
          <p:cNvPr id="3" name="Graphic 2" descr="Arrow Down with solid fill">
            <a:extLst>
              <a:ext uri="{FF2B5EF4-FFF2-40B4-BE49-F238E27FC236}">
                <a16:creationId xmlns:a16="http://schemas.microsoft.com/office/drawing/2014/main" id="{E0A8ADFA-CC09-9477-28A8-5985074624C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90800" y="1447799"/>
            <a:ext cx="413359" cy="4133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8C4389E-1549-12B1-5406-140BDB695EE0}"/>
              </a:ext>
            </a:extLst>
          </p:cNvPr>
          <p:cNvSpPr txBox="1"/>
          <p:nvPr/>
        </p:nvSpPr>
        <p:spPr>
          <a:xfrm>
            <a:off x="1981137" y="1983783"/>
            <a:ext cx="1628384" cy="32355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rtl="0">
              <a:lnSpc>
                <a:spcPts val="1650"/>
              </a:lnSpc>
            </a:pPr>
            <a:r>
              <a:rPr lang="en-US" sz="2000" b="1">
                <a:solidFill>
                  <a:schemeClr val="bg1"/>
                </a:solidFill>
                <a:ea typeface="Calibri"/>
                <a:cs typeface="Segoe UI"/>
              </a:rPr>
              <a:t>Middleware</a:t>
            </a:r>
          </a:p>
        </p:txBody>
      </p:sp>
      <p:pic>
        <p:nvPicPr>
          <p:cNvPr id="8" name="Graphic 7" descr="Arrow Down with solid fill">
            <a:extLst>
              <a:ext uri="{FF2B5EF4-FFF2-40B4-BE49-F238E27FC236}">
                <a16:creationId xmlns:a16="http://schemas.microsoft.com/office/drawing/2014/main" id="{F8422539-1B37-9AE9-0BA2-A00DA05D5FF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2639262" y="4030918"/>
            <a:ext cx="413359" cy="413359"/>
          </a:xfrm>
          <a:prstGeom prst="rect">
            <a:avLst/>
          </a:prstGeom>
        </p:spPr>
      </p:pic>
      <p:pic>
        <p:nvPicPr>
          <p:cNvPr id="10" name="Graphic 9" descr="Arrow Down with solid fill">
            <a:extLst>
              <a:ext uri="{FF2B5EF4-FFF2-40B4-BE49-F238E27FC236}">
                <a16:creationId xmlns:a16="http://schemas.microsoft.com/office/drawing/2014/main" id="{DEE24F49-F19A-56BC-4A1C-5AFB10757B1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-2460000">
            <a:off x="3343851" y="3023989"/>
            <a:ext cx="413359" cy="413359"/>
          </a:xfrm>
          <a:prstGeom prst="rect">
            <a:avLst/>
          </a:prstGeom>
        </p:spPr>
      </p:pic>
      <p:pic>
        <p:nvPicPr>
          <p:cNvPr id="14" name="Graphic 13" descr="Database with solid fill">
            <a:extLst>
              <a:ext uri="{FF2B5EF4-FFF2-40B4-BE49-F238E27FC236}">
                <a16:creationId xmlns:a16="http://schemas.microsoft.com/office/drawing/2014/main" id="{95EF83B9-D146-0029-F0EA-45C055618F0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92061" y="3243197"/>
            <a:ext cx="684756" cy="653442"/>
          </a:xfrm>
          <a:prstGeom prst="rect">
            <a:avLst/>
          </a:prstGeom>
        </p:spPr>
      </p:pic>
      <p:pic>
        <p:nvPicPr>
          <p:cNvPr id="20" name="Graphic 19" descr="Leaf with solid fill">
            <a:extLst>
              <a:ext uri="{FF2B5EF4-FFF2-40B4-BE49-F238E27FC236}">
                <a16:creationId xmlns:a16="http://schemas.microsoft.com/office/drawing/2014/main" id="{4D5F0A16-102B-F2EB-4A56-A1AC28F4E25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-2700000">
            <a:off x="3725320" y="3281689"/>
            <a:ext cx="580373" cy="58037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39CA74F-5ACD-9DBB-3352-AEA2C16F9D4E}"/>
              </a:ext>
            </a:extLst>
          </p:cNvPr>
          <p:cNvSpPr txBox="1"/>
          <p:nvPr/>
        </p:nvSpPr>
        <p:spPr>
          <a:xfrm>
            <a:off x="285577" y="3884695"/>
            <a:ext cx="2524979" cy="21544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ea typeface="Calibri"/>
                <a:cs typeface="Calibri"/>
              </a:rPr>
              <a:t>Key Data Collection &amp; Metadata Fields</a:t>
            </a:r>
          </a:p>
          <a:p>
            <a:pPr algn="ctr"/>
            <a:r>
              <a:rPr lang="en-US">
                <a:latin typeface="Calibri"/>
                <a:ea typeface="Calibri"/>
                <a:cs typeface="Calibri"/>
              </a:rPr>
              <a:t>Metrics Logging </a:t>
            </a:r>
          </a:p>
          <a:p>
            <a:pPr marL="342900" indent="-342900">
              <a:buFont typeface="Arial"/>
              <a:buChar char="•"/>
            </a:pPr>
            <a:endParaRPr lang="en-US" sz="2000" b="1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4BCFDC-826E-B628-644B-8F5876349DB7}"/>
              </a:ext>
            </a:extLst>
          </p:cNvPr>
          <p:cNvSpPr txBox="1"/>
          <p:nvPr/>
        </p:nvSpPr>
        <p:spPr>
          <a:xfrm>
            <a:off x="2895166" y="3874256"/>
            <a:ext cx="2524979" cy="187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ea typeface="Calibri"/>
                <a:cs typeface="Calibri"/>
              </a:rPr>
              <a:t>Main Datastore</a:t>
            </a:r>
          </a:p>
          <a:p>
            <a:pPr algn="ctr"/>
            <a:r>
              <a:rPr lang="en-US">
                <a:latin typeface="Calibri"/>
                <a:ea typeface="Calibri"/>
                <a:cs typeface="Calibri"/>
              </a:rPr>
              <a:t>Elastic Searching </a:t>
            </a:r>
          </a:p>
          <a:p>
            <a:pPr marL="342900" indent="-342900">
              <a:buFont typeface="Arial"/>
              <a:buChar char="•"/>
            </a:pPr>
            <a:endParaRPr lang="en-US" sz="2000" b="1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</p:txBody>
      </p:sp>
      <p:pic>
        <p:nvPicPr>
          <p:cNvPr id="29" name="Graphic 28" descr="Plugged Unplugged with solid fill">
            <a:extLst>
              <a:ext uri="{FF2B5EF4-FFF2-40B4-BE49-F238E27FC236}">
                <a16:creationId xmlns:a16="http://schemas.microsoft.com/office/drawing/2014/main" id="{150CEB7E-28A8-8D63-016B-6451DEC776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3440000">
            <a:off x="2207520" y="4498223"/>
            <a:ext cx="580373" cy="53862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185E7CF-8855-ADAE-FDC3-C03ED2DF0024}"/>
              </a:ext>
            </a:extLst>
          </p:cNvPr>
          <p:cNvSpPr txBox="1"/>
          <p:nvPr/>
        </p:nvSpPr>
        <p:spPr>
          <a:xfrm>
            <a:off x="1814124" y="5177920"/>
            <a:ext cx="1075152" cy="323550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rtl="0">
              <a:lnSpc>
                <a:spcPts val="1650"/>
              </a:lnSpc>
            </a:pPr>
            <a:r>
              <a:rPr lang="en-US" sz="2000" b="1">
                <a:solidFill>
                  <a:schemeClr val="tx1"/>
                </a:solidFill>
                <a:ea typeface="Calibri"/>
                <a:cs typeface="Segoe UI"/>
              </a:rPr>
              <a:t>API</a:t>
            </a:r>
          </a:p>
        </p:txBody>
      </p:sp>
      <p:pic>
        <p:nvPicPr>
          <p:cNvPr id="32" name="Graphic 31" descr="Arrow Down with solid fill">
            <a:extLst>
              <a:ext uri="{FF2B5EF4-FFF2-40B4-BE49-F238E27FC236}">
                <a16:creationId xmlns:a16="http://schemas.microsoft.com/office/drawing/2014/main" id="{B8C8469A-8E34-B295-8B87-611BE4C5C72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1338196" y="5174290"/>
            <a:ext cx="413359" cy="41335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B22CD34C-6C15-4707-9467-0565AD26D468}"/>
              </a:ext>
            </a:extLst>
          </p:cNvPr>
          <p:cNvSpPr txBox="1"/>
          <p:nvPr/>
        </p:nvSpPr>
        <p:spPr>
          <a:xfrm>
            <a:off x="525659" y="5920174"/>
            <a:ext cx="2524979" cy="187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Calibri"/>
                <a:ea typeface="Calibri"/>
                <a:cs typeface="Calibri"/>
              </a:rPr>
              <a:t>Metric data available for unlisted videos globally</a:t>
            </a:r>
          </a:p>
          <a:p>
            <a:pPr marL="342900" indent="-342900">
              <a:buFont typeface="Arial"/>
              <a:buChar char="•"/>
            </a:pPr>
            <a:endParaRPr lang="en-US" sz="2000" b="1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M</a:t>
            </a:r>
          </a:p>
        </p:txBody>
      </p:sp>
      <p:pic>
        <p:nvPicPr>
          <p:cNvPr id="36" name="Graphic 35" descr="Arrow Down with solid fill">
            <a:extLst>
              <a:ext uri="{FF2B5EF4-FFF2-40B4-BE49-F238E27FC236}">
                <a16:creationId xmlns:a16="http://schemas.microsoft.com/office/drawing/2014/main" id="{E7B5BD77-EEE5-1511-86D6-93BB9625B93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43400" y="4568865"/>
            <a:ext cx="413359" cy="413359"/>
          </a:xfrm>
          <a:prstGeom prst="rect">
            <a:avLst/>
          </a:prstGeom>
        </p:spPr>
      </p:pic>
      <p:pic>
        <p:nvPicPr>
          <p:cNvPr id="37" name="Graphic 36" descr="Ui Ux with solid fill">
            <a:extLst>
              <a:ext uri="{FF2B5EF4-FFF2-40B4-BE49-F238E27FC236}">
                <a16:creationId xmlns:a16="http://schemas.microsoft.com/office/drawing/2014/main" id="{7FEC66D7-1930-7044-0781-892D1BAA1C2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613759" y="4923772"/>
            <a:ext cx="914400" cy="9144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03A72D5-4BD2-AEA2-26B1-84EF81DBB2FA}"/>
              </a:ext>
            </a:extLst>
          </p:cNvPr>
          <p:cNvSpPr txBox="1"/>
          <p:nvPr/>
        </p:nvSpPr>
        <p:spPr>
          <a:xfrm>
            <a:off x="3009988" y="5920173"/>
            <a:ext cx="3005142" cy="187743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latin typeface="Calibri"/>
                <a:ea typeface="Calibri"/>
                <a:cs typeface="Calibri"/>
              </a:rPr>
              <a:t>User Interface for searching through unlisted videos</a:t>
            </a:r>
          </a:p>
          <a:p>
            <a:pPr marL="342900" indent="-342900">
              <a:buFont typeface="Arial"/>
              <a:buChar char="•"/>
            </a:pPr>
            <a:endParaRPr lang="en-US" sz="2000" b="1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</a:rPr>
              <a:t>M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87E8FC0-9985-C417-288D-967CE26051F6}"/>
              </a:ext>
            </a:extLst>
          </p:cNvPr>
          <p:cNvSpPr txBox="1"/>
          <p:nvPr/>
        </p:nvSpPr>
        <p:spPr>
          <a:xfrm>
            <a:off x="6485959" y="1650885"/>
            <a:ext cx="5134567" cy="43704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"Unlisted" </a:t>
            </a:r>
            <a:r>
              <a:rPr lang="en-US" sz="2000">
                <a:ea typeface="Calibri"/>
                <a:cs typeface="Calibri"/>
              </a:rPr>
              <a:t>videos are videos that do not appear in YouTube's search results, except in playlists, and can be watched if the URL is known or if a webpage either links or embeds the videos</a:t>
            </a:r>
          </a:p>
          <a:p>
            <a:endParaRPr lang="en-US" sz="2000" b="1">
              <a:ea typeface="Calibri"/>
              <a:cs typeface="Calibri"/>
            </a:endParaRPr>
          </a:p>
          <a:p>
            <a:r>
              <a:rPr lang="en-US" sz="2000" b="1">
                <a:ea typeface="Calibri"/>
                <a:cs typeface="Calibri"/>
              </a:rPr>
              <a:t>Project Goals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Calibri"/>
                <a:cs typeface="Calibri"/>
              </a:rPr>
              <a:t>Collect: </a:t>
            </a:r>
            <a:r>
              <a:rPr lang="en-US" sz="2000">
                <a:ea typeface="Calibri"/>
                <a:cs typeface="Calibri"/>
              </a:rPr>
              <a:t>Pull unlisted video metadata via hosted API</a:t>
            </a:r>
          </a:p>
          <a:p>
            <a:pPr marL="342900" indent="-342900">
              <a:buFont typeface="Arial"/>
              <a:buChar char="•"/>
            </a:pPr>
            <a:r>
              <a:rPr lang="en-US" sz="2000" b="1">
                <a:ea typeface="Calibri"/>
                <a:cs typeface="Calibri"/>
              </a:rPr>
              <a:t>Store: </a:t>
            </a:r>
            <a:r>
              <a:rPr lang="en-US" sz="2000">
                <a:ea typeface="Calibri"/>
                <a:cs typeface="Calibri"/>
              </a:rPr>
              <a:t>SQL Server (SMSS) and MongoDB for relational  and semi-structured data </a:t>
            </a:r>
            <a:endParaRPr lang="en-US" sz="2000">
              <a:solidFill>
                <a:srgbClr val="000000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Calibri"/>
                <a:cs typeface="Calibri"/>
              </a:rPr>
              <a:t>Search and Explore: </a:t>
            </a:r>
            <a:r>
              <a:rPr lang="en-US" sz="2000">
                <a:ea typeface="Calibri"/>
                <a:cs typeface="Calibri"/>
              </a:rPr>
              <a:t>Elastic Search + Vue/Vite UI</a:t>
            </a:r>
          </a:p>
          <a:p>
            <a:pPr marL="285750" indent="-285750">
              <a:buFont typeface="Arial"/>
              <a:buChar char="•"/>
            </a:pPr>
            <a:r>
              <a:rPr lang="en-US" sz="2000" b="1">
                <a:ea typeface="Calibri"/>
                <a:cs typeface="Calibri"/>
              </a:rPr>
              <a:t>Analyze and Log: </a:t>
            </a:r>
            <a:r>
              <a:rPr lang="en-US" sz="2000">
                <a:ea typeface="Calibri"/>
                <a:cs typeface="Calibri"/>
              </a:rPr>
              <a:t>Metrics (views, likes, playlists) via hosted API</a:t>
            </a:r>
          </a:p>
        </p:txBody>
      </p:sp>
    </p:spTree>
    <p:extLst>
      <p:ext uri="{BB962C8B-B14F-4D97-AF65-F5344CB8AC3E}">
        <p14:creationId xmlns:p14="http://schemas.microsoft.com/office/powerpoint/2010/main" val="231798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6A3457-EAA7-EAFA-C2CB-B1480F563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187C033-D88B-FD81-C197-5158E3BA7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37A6617-982F-C30B-911C-3BE255190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0AC7A8-CEFF-D329-672E-03C9A1514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4CA01A2-0454-5DD2-DE63-D91B13E186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B6B96E9-0C62-E39F-A910-7AFBD1478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9DC4E7D-BB46-B0B1-8364-20B251ADF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9F12B53-BFEC-4183-42CA-B591DAF86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2354990-B0B8-A9DE-1647-E29934B22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4188" y="240466"/>
            <a:ext cx="7693314" cy="772791"/>
          </a:xfrm>
        </p:spPr>
        <p:txBody>
          <a:bodyPr lIns="91440" tIns="45720" rIns="91440" bIns="45720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  <a:latin typeface="Trade Gothic Next Heavy"/>
              </a:rPr>
              <a:t>Data Description, Size &amp; Collection</a:t>
            </a:r>
            <a:endParaRPr lang="en-US" sz="3600">
              <a:solidFill>
                <a:schemeClr val="tx2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CB4C9-83FB-4E64-D1A6-AC8004583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2D862FB-4242-413D-0F17-2B972D7F80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C81099F-C88D-E4D4-1F0B-52EF4BAF1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7514103-C7C3-DB81-2D41-74D0EABC21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6AD46A4-3496-6923-7900-3D40C3E2E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2F21B5EE-0028-388B-8A4A-26E8855CC2CF}"/>
              </a:ext>
            </a:extLst>
          </p:cNvPr>
          <p:cNvSpPr txBox="1"/>
          <p:nvPr/>
        </p:nvSpPr>
        <p:spPr>
          <a:xfrm>
            <a:off x="513225" y="1236269"/>
            <a:ext cx="5067332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Focus: </a:t>
            </a:r>
            <a:r>
              <a:rPr lang="en-US" sz="2000">
                <a:ea typeface="Calibri"/>
                <a:cs typeface="Calibri"/>
              </a:rPr>
              <a:t>Unlisted YouTube Videos </a:t>
            </a:r>
            <a:endParaRPr lang="en-US"/>
          </a:p>
          <a:p>
            <a:r>
              <a:rPr lang="en-US" sz="2000">
                <a:ea typeface="Calibri"/>
                <a:cs typeface="Calibri"/>
              </a:rPr>
              <a:t>~ 11k records (videos) collected and stored</a:t>
            </a:r>
          </a:p>
          <a:p>
            <a:r>
              <a:rPr lang="en-US" sz="2000">
                <a:ea typeface="Calibri"/>
                <a:cs typeface="Calibri"/>
              </a:rPr>
              <a:t>~ 5GB of data parsed</a:t>
            </a:r>
          </a:p>
          <a:p>
            <a:r>
              <a:rPr lang="en-US" sz="2000">
                <a:ea typeface="Calibri"/>
                <a:cs typeface="Calibri"/>
              </a:rPr>
              <a:t>~Continuously growing data bank</a:t>
            </a:r>
          </a:p>
          <a:p>
            <a:endParaRPr lang="en-US" sz="2000">
              <a:ea typeface="Calibri"/>
              <a:cs typeface="Calibri"/>
            </a:endParaRPr>
          </a:p>
          <a:p>
            <a:r>
              <a:rPr lang="en-US" sz="2000" b="1">
                <a:ea typeface="Calibri"/>
                <a:cs typeface="Calibri"/>
              </a:rPr>
              <a:t>Data Collection Method:</a:t>
            </a:r>
          </a:p>
          <a:p>
            <a:r>
              <a:rPr lang="en-US" sz="2000">
                <a:ea typeface="Calibri"/>
                <a:cs typeface="Calibri"/>
              </a:rPr>
              <a:t>Uses a scraper to collect only unlisted videos and then extracts as much metadata as possible </a:t>
            </a:r>
          </a:p>
          <a:p>
            <a:endParaRPr lang="en-US" sz="2000">
              <a:ea typeface="Calibri"/>
              <a:cs typeface="Calibri"/>
            </a:endParaRPr>
          </a:p>
          <a:p>
            <a:r>
              <a:rPr lang="en-US" sz="2000" b="1">
                <a:ea typeface="Calibri"/>
                <a:cs typeface="Calibri"/>
              </a:rPr>
              <a:t>Data Storage: </a:t>
            </a:r>
            <a:r>
              <a:rPr lang="en-US" sz="2000">
                <a:ea typeface="Calibri"/>
                <a:cs typeface="Calibri"/>
              </a:rPr>
              <a:t>Inserted into MongoDB and SQL Server</a:t>
            </a:r>
          </a:p>
          <a:p>
            <a:endParaRPr lang="en-US" sz="2000">
              <a:ea typeface="Calibri"/>
              <a:cs typeface="Calibri"/>
            </a:endParaRPr>
          </a:p>
          <a:p>
            <a:pPr algn="ctr"/>
            <a:endParaRPr lang="en-US" sz="2000">
              <a:ea typeface="Calibri"/>
              <a:cs typeface="Calibri"/>
            </a:endParaRPr>
          </a:p>
          <a:p>
            <a:pPr marL="342900" indent="-342900" algn="ctr">
              <a:buFont typeface="Arial"/>
              <a:buChar char="•"/>
            </a:pPr>
            <a:endParaRPr lang="en-US" sz="2000">
              <a:ea typeface="Calibri"/>
              <a:cs typeface="Calibri"/>
            </a:endParaRPr>
          </a:p>
          <a:p>
            <a:pPr algn="ctr"/>
            <a:endParaRPr lang="en-US" sz="2000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D5F069-6B64-2042-23A6-4EB5237FAD11}"/>
              </a:ext>
            </a:extLst>
          </p:cNvPr>
          <p:cNvSpPr txBox="1"/>
          <p:nvPr/>
        </p:nvSpPr>
        <p:spPr>
          <a:xfrm>
            <a:off x="6306664" y="1236267"/>
            <a:ext cx="5235420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Calibri"/>
                <a:cs typeface="Calibri"/>
              </a:rPr>
              <a:t>Records include 16 relevant attributes:</a:t>
            </a:r>
          </a:p>
          <a:p>
            <a:pPr marL="342900" indent="-34290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Video Title</a:t>
            </a:r>
          </a:p>
          <a:p>
            <a:pPr marL="342900" indent="-34290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Availability </a:t>
            </a:r>
          </a:p>
          <a:p>
            <a:pPr marL="342900" indent="-34290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Playlist Title</a:t>
            </a:r>
          </a:p>
          <a:p>
            <a:pPr marL="342900" indent="-34290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Channel</a:t>
            </a:r>
          </a:p>
          <a:p>
            <a:pPr marL="342900" indent="-34290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Uploader</a:t>
            </a:r>
          </a:p>
          <a:p>
            <a:pPr marL="342900" indent="-34290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Duration in Seconds</a:t>
            </a:r>
          </a:p>
          <a:p>
            <a:pPr marL="342900" indent="-34290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Number of Views</a:t>
            </a:r>
          </a:p>
          <a:p>
            <a:pPr marL="342900" indent="-34290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Upload Date</a:t>
            </a:r>
          </a:p>
          <a:p>
            <a:pPr marL="342900" indent="-34290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….</a:t>
            </a:r>
          </a:p>
          <a:p>
            <a:endParaRPr lang="en-US" sz="2000">
              <a:ea typeface="Calibri"/>
              <a:cs typeface="Calibri"/>
            </a:endParaRPr>
          </a:p>
          <a:p>
            <a:pPr marL="342900" indent="-342900">
              <a:buFont typeface="Calibri"/>
              <a:buChar char="-"/>
            </a:pPr>
            <a:endParaRPr lang="en-US" sz="2000"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B32BFB-E985-EC32-15BE-53642DCF6E6B}"/>
              </a:ext>
            </a:extLst>
          </p:cNvPr>
          <p:cNvSpPr txBox="1"/>
          <p:nvPr/>
        </p:nvSpPr>
        <p:spPr>
          <a:xfrm>
            <a:off x="6306663" y="4149797"/>
            <a:ext cx="4742362" cy="3570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Calibri"/>
                <a:cs typeface="Calibri"/>
              </a:rPr>
              <a:t>Relevant metadata fields pulled and logged in addition to relevant attributes include:</a:t>
            </a:r>
          </a:p>
          <a:p>
            <a:pPr marL="342900" indent="-34290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Video Description </a:t>
            </a:r>
          </a:p>
          <a:p>
            <a:pPr marL="342900" indent="-34290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Video Embed (Boolean) </a:t>
            </a:r>
          </a:p>
          <a:p>
            <a:pPr marL="342900" indent="-34290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Category/Video Category </a:t>
            </a:r>
          </a:p>
          <a:p>
            <a:pPr marL="342900" indent="-342900">
              <a:buFont typeface="Calibri"/>
              <a:buChar char="-"/>
            </a:pPr>
            <a:r>
              <a:rPr lang="en-US">
                <a:ea typeface="Calibri"/>
                <a:cs typeface="Calibri"/>
              </a:rPr>
              <a:t>Tags</a:t>
            </a:r>
          </a:p>
          <a:p>
            <a:pPr marL="342900" indent="-342900">
              <a:buFont typeface="Calibri"/>
              <a:buChar char="-"/>
            </a:pPr>
            <a:endParaRPr lang="en-US">
              <a:ea typeface="Calibri"/>
              <a:cs typeface="Calibri"/>
            </a:endParaRPr>
          </a:p>
          <a:p>
            <a:pPr marL="342900" indent="-342900">
              <a:buFont typeface="Calibri"/>
              <a:buChar char="-"/>
            </a:pPr>
            <a:endParaRPr lang="en-US" sz="2000" b="1">
              <a:ea typeface="Calibri"/>
              <a:cs typeface="Calibri"/>
            </a:endParaRPr>
          </a:p>
          <a:p>
            <a:pPr marL="342900" indent="-342900">
              <a:buFont typeface="Calibri"/>
              <a:buChar char="-"/>
            </a:pPr>
            <a:endParaRPr lang="en-US" sz="2000" b="1"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  <a:p>
            <a:pPr marL="342900" indent="-342900">
              <a:buFont typeface="Calibri"/>
              <a:buChar char="-"/>
            </a:pPr>
            <a:endParaRPr lang="en-US" sz="2000"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</p:txBody>
      </p:sp>
      <p:pic>
        <p:nvPicPr>
          <p:cNvPr id="5" name="Picture 4" descr="File:Youtube-logo-png-photo-0.png - Interstellar Rift Wiki">
            <a:extLst>
              <a:ext uri="{FF2B5EF4-FFF2-40B4-BE49-F238E27FC236}">
                <a16:creationId xmlns:a16="http://schemas.microsoft.com/office/drawing/2014/main" id="{E58AE063-34DC-E9CD-FCA5-81021161A9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63" t="20603" r="10553" b="17588"/>
          <a:stretch>
            <a:fillRect/>
          </a:stretch>
        </p:blipFill>
        <p:spPr>
          <a:xfrm>
            <a:off x="2063241" y="5029122"/>
            <a:ext cx="1969627" cy="15716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116602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7AF54C-3689-550B-4BBE-BD86FD25F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BACC34F-5FA7-C081-0956-7A54649B2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17F50C-2D2C-A644-9C74-486FBD490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391C7B2-EB3E-77BD-86AE-197454615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BFA937C-CB07-6140-6B5D-CEB5DE926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AE267C5-3EAC-7D7C-DDB2-A44DCD778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A400BB9-43D5-9C23-0F29-26F3C26CC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6503222-3DC6-5A82-07EE-7916F8912E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222FE8-97AA-A7B1-36BB-31DE29067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53" y="464584"/>
            <a:ext cx="7693314" cy="772791"/>
          </a:xfrm>
        </p:spPr>
        <p:txBody>
          <a:bodyPr lIns="91440" tIns="45720" rIns="91440" bIns="45720">
            <a:normAutofit fontScale="90000"/>
          </a:bodyPr>
          <a:lstStyle/>
          <a:p>
            <a:pPr algn="r"/>
            <a:r>
              <a:rPr lang="en-US" sz="3600">
                <a:solidFill>
                  <a:schemeClr val="tx2"/>
                </a:solidFill>
                <a:latin typeface="Trade Gothic Next Heavy"/>
              </a:rPr>
              <a:t>Platform Setting &amp; System Configuration Procedures</a:t>
            </a:r>
            <a:endParaRPr lang="en-US">
              <a:solidFill>
                <a:schemeClr val="tx2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FEAAE8E-A0BC-7C5D-C901-424E6E1F8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D4BB83-CF6C-40FA-5354-C082AA9BA9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D817318-6ADB-79AC-22DF-5B9E779323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08974E2-9F2C-0679-3CC6-07B233A062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0D1DC4-ABB4-1480-C945-C453F1664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F8710D0-F6F1-2AEF-B825-CF3915BC5557}"/>
              </a:ext>
            </a:extLst>
          </p:cNvPr>
          <p:cNvSpPr txBox="1"/>
          <p:nvPr/>
        </p:nvSpPr>
        <p:spPr>
          <a:xfrm>
            <a:off x="760830" y="1508437"/>
            <a:ext cx="7128294" cy="42780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Calibri"/>
                <a:ea typeface="Calibri"/>
                <a:cs typeface="Calibri"/>
              </a:rPr>
              <a:t>Frontend:</a:t>
            </a:r>
            <a:r>
              <a:rPr lang="en-US" sz="2800">
                <a:latin typeface="Calibri"/>
                <a:ea typeface="Calibri"/>
                <a:cs typeface="Calibri"/>
              </a:rPr>
              <a:t> Vue 3 + Vite </a:t>
            </a:r>
            <a:endParaRPr lang="en-US" sz="2800">
              <a:ea typeface="Calibri"/>
              <a:cs typeface="Calibri"/>
            </a:endParaRPr>
          </a:p>
          <a:p>
            <a:r>
              <a:rPr lang="en-US" sz="2800" b="1">
                <a:latin typeface="Calibri"/>
                <a:ea typeface="Calibri"/>
                <a:cs typeface="Calibri"/>
              </a:rPr>
              <a:t>Backend: </a:t>
            </a:r>
            <a:r>
              <a:rPr lang="en-US" sz="2800">
                <a:latin typeface="Calibri"/>
                <a:ea typeface="Calibri"/>
                <a:cs typeface="Calibri"/>
              </a:rPr>
              <a:t>.NET 8 API </a:t>
            </a:r>
          </a:p>
          <a:p>
            <a:r>
              <a:rPr lang="en-US" sz="2800" b="1">
                <a:latin typeface="Calibri"/>
                <a:ea typeface="Calibri"/>
                <a:cs typeface="Calibri"/>
              </a:rPr>
              <a:t>Database: </a:t>
            </a:r>
            <a:r>
              <a:rPr lang="en-US" sz="2800">
                <a:latin typeface="Calibri"/>
                <a:ea typeface="Calibri"/>
                <a:cs typeface="Calibri"/>
              </a:rPr>
              <a:t>SQL Server (SMSS) and MongoDB for storing relational data </a:t>
            </a:r>
          </a:p>
          <a:p>
            <a:r>
              <a:rPr lang="en-US" sz="2000" b="1">
                <a:latin typeface="Calibri"/>
                <a:ea typeface="Calibri"/>
                <a:cs typeface="Calibri"/>
              </a:rPr>
              <a:t>Setup Highlights: </a:t>
            </a:r>
          </a:p>
          <a:p>
            <a:pPr marL="342900" indent="-342900">
              <a:buFont typeface="Arial"/>
              <a:buChar char="•"/>
            </a:pPr>
            <a:r>
              <a:rPr lang="en-US" sz="2000" b="1">
                <a:latin typeface="Calibri"/>
                <a:ea typeface="Calibri"/>
                <a:cs typeface="Calibri"/>
              </a:rPr>
              <a:t>Docker: </a:t>
            </a:r>
            <a:r>
              <a:rPr lang="en-US" sz="2000">
                <a:latin typeface="Calibri"/>
                <a:ea typeface="Calibri"/>
                <a:cs typeface="Calibri"/>
              </a:rPr>
              <a:t>Used for containerization</a:t>
            </a:r>
          </a:p>
          <a:p>
            <a:pPr marL="342900" indent="-342900">
              <a:buFont typeface="Arial"/>
              <a:buChar char="•"/>
            </a:pPr>
            <a:r>
              <a:rPr lang="en-US" sz="2000" b="1">
                <a:latin typeface="Calibri"/>
                <a:ea typeface="Calibri"/>
                <a:cs typeface="Calibri"/>
              </a:rPr>
              <a:t>Node.js: </a:t>
            </a:r>
            <a:r>
              <a:rPr lang="en-US" sz="2000">
                <a:latin typeface="Calibri"/>
                <a:ea typeface="Calibri"/>
                <a:cs typeface="Calibri"/>
              </a:rPr>
              <a:t>Used for building &amp; running the Vue 3 frontend</a:t>
            </a:r>
          </a:p>
          <a:p>
            <a:pPr marL="342900" indent="-342900">
              <a:buFont typeface="Arial"/>
              <a:buChar char="•"/>
            </a:pPr>
            <a:r>
              <a:rPr lang="en-US" sz="2000" b="1">
                <a:latin typeface="Calibri"/>
                <a:ea typeface="Calibri"/>
                <a:cs typeface="Calibri"/>
              </a:rPr>
              <a:t>Git: </a:t>
            </a:r>
            <a:r>
              <a:rPr lang="en-US" sz="2000">
                <a:latin typeface="Calibri"/>
                <a:ea typeface="Calibri"/>
                <a:cs typeface="Calibri"/>
              </a:rPr>
              <a:t>Used for version control</a:t>
            </a:r>
          </a:p>
          <a:p>
            <a:pPr marL="342900" indent="-3429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endParaRPr lang="en-US" sz="2000">
              <a:latin typeface="Calibri"/>
              <a:ea typeface="Calibri"/>
              <a:cs typeface="Calibri"/>
            </a:endParaRPr>
          </a:p>
        </p:txBody>
      </p:sp>
      <p:pic>
        <p:nvPicPr>
          <p:cNvPr id="9" name="Picture 8" descr="Mongodb logo - Free Icon PNG, SVG">
            <a:extLst>
              <a:ext uri="{FF2B5EF4-FFF2-40B4-BE49-F238E27FC236}">
                <a16:creationId xmlns:a16="http://schemas.microsoft.com/office/drawing/2014/main" id="{18FBBA18-BFF3-EE7C-BAE2-087449A36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968" y="4661971"/>
            <a:ext cx="2743200" cy="1371600"/>
          </a:xfrm>
          <a:prstGeom prst="rect">
            <a:avLst/>
          </a:prstGeom>
        </p:spPr>
      </p:pic>
      <p:pic>
        <p:nvPicPr>
          <p:cNvPr id="12" name="Picture 11" descr="File:Microsoft .NET logo.svg - Wikimedia Commons">
            <a:extLst>
              <a:ext uri="{FF2B5EF4-FFF2-40B4-BE49-F238E27FC236}">
                <a16:creationId xmlns:a16="http://schemas.microsoft.com/office/drawing/2014/main" id="{C4072006-32F0-0FB3-2D82-6E08D116D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819" y="4652601"/>
            <a:ext cx="1404651" cy="1358747"/>
          </a:xfrm>
          <a:prstGeom prst="rect">
            <a:avLst/>
          </a:prstGeom>
        </p:spPr>
      </p:pic>
      <p:pic>
        <p:nvPicPr>
          <p:cNvPr id="14" name="Picture 13" descr="Vue.js Logos - Mastering JS">
            <a:extLst>
              <a:ext uri="{FF2B5EF4-FFF2-40B4-BE49-F238E27FC236}">
                <a16:creationId xmlns:a16="http://schemas.microsoft.com/office/drawing/2014/main" id="{3A9D75D3-D288-2155-A554-E742831D60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6015" y="4765713"/>
            <a:ext cx="1173297" cy="1164116"/>
          </a:xfrm>
          <a:prstGeom prst="rect">
            <a:avLst/>
          </a:prstGeom>
        </p:spPr>
      </p:pic>
      <p:pic>
        <p:nvPicPr>
          <p:cNvPr id="20" name="Picture 19" descr="Docker Icon SVG Vector &amp; PNG Free Download | UXWing">
            <a:extLst>
              <a:ext uri="{FF2B5EF4-FFF2-40B4-BE49-F238E27FC236}">
                <a16:creationId xmlns:a16="http://schemas.microsoft.com/office/drawing/2014/main" id="{8463EE61-B560-3821-9241-85843966F0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2276" y="4765713"/>
            <a:ext cx="1210020" cy="1118213"/>
          </a:xfrm>
          <a:prstGeom prst="rect">
            <a:avLst/>
          </a:prstGeom>
        </p:spPr>
      </p:pic>
      <p:pic>
        <p:nvPicPr>
          <p:cNvPr id="27" name="Picture 26" descr="Azure SQL Database to Microsoft SQL Server – Striim – Striim">
            <a:extLst>
              <a:ext uri="{FF2B5EF4-FFF2-40B4-BE49-F238E27FC236}">
                <a16:creationId xmlns:a16="http://schemas.microsoft.com/office/drawing/2014/main" id="{AAD86A50-2592-448F-3EB8-C74B6C4203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0818" y="4564171"/>
            <a:ext cx="1843488" cy="1457032"/>
          </a:xfrm>
          <a:prstGeom prst="rect">
            <a:avLst/>
          </a:prstGeom>
        </p:spPr>
      </p:pic>
      <p:pic>
        <p:nvPicPr>
          <p:cNvPr id="29" name="Picture 28" descr="File:Node.js logo.svg - Wikimedia Commons">
            <a:extLst>
              <a:ext uri="{FF2B5EF4-FFF2-40B4-BE49-F238E27FC236}">
                <a16:creationId xmlns:a16="http://schemas.microsoft.com/office/drawing/2014/main" id="{7E03E96A-DA2B-E22F-079C-B7C98E56C9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3787" y="2891927"/>
            <a:ext cx="2401603" cy="1514819"/>
          </a:xfrm>
          <a:prstGeom prst="rect">
            <a:avLst/>
          </a:prstGeom>
        </p:spPr>
      </p:pic>
      <p:pic>
        <p:nvPicPr>
          <p:cNvPr id="31" name="Picture 30" descr="Git - Logo Downloads">
            <a:extLst>
              <a:ext uri="{FF2B5EF4-FFF2-40B4-BE49-F238E27FC236}">
                <a16:creationId xmlns:a16="http://schemas.microsoft.com/office/drawing/2014/main" id="{ADED9106-064A-E52D-1F0A-6F054940DC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3079" y="1711056"/>
            <a:ext cx="2277967" cy="99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703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DF888E-C515-70D5-6B8C-EFC07920D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DD1BA6B-4F4B-0295-DC86-8CCDBFA2D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EBBFA5-A596-D4E3-B14B-01D6C8B5F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FB90903-A1BB-8E16-3B2C-6401D2F6A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B7F6680-84F2-3514-2851-58294568BB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A906431-CBFE-A588-88E5-5860A82B8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4747FAC-941B-B7AD-D819-7BF514049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2AC98F5-59B8-B6DA-1075-61DBC164BC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6A83BBE-69BD-7E9A-5B8A-50D38BF5A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53" y="464584"/>
            <a:ext cx="7693314" cy="772791"/>
          </a:xfrm>
        </p:spPr>
        <p:txBody>
          <a:bodyPr lIns="91440" tIns="45720" rIns="91440" bIns="45720">
            <a:normAutofit/>
          </a:bodyPr>
          <a:lstStyle/>
          <a:p>
            <a:pPr algn="r"/>
            <a:r>
              <a:rPr lang="en-US" sz="3600">
                <a:solidFill>
                  <a:schemeClr val="tx2"/>
                </a:solidFill>
                <a:latin typeface="Trade Gothic Next Heavy"/>
              </a:rPr>
              <a:t>System Design &amp; Architecture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BC61F9E-7573-1C0B-2EE6-C5E0C96D5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462048E-6989-5DD4-9344-68B1FF70E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4C63FF9-9CA3-4432-3BF2-72C32A2D2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835AF9F-EDCF-F64A-F4D6-EB6B43153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EA108C5-FB45-0ED3-0DF4-9EAA3DBC1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75E4EFD-3BE8-37D8-AE9E-B29ADF133DB2}"/>
              </a:ext>
            </a:extLst>
          </p:cNvPr>
          <p:cNvSpPr/>
          <p:nvPr/>
        </p:nvSpPr>
        <p:spPr>
          <a:xfrm>
            <a:off x="1154634" y="1752404"/>
            <a:ext cx="9891385" cy="945714"/>
          </a:xfrm>
          <a:prstGeom prst="rect">
            <a:avLst/>
          </a:prstGeom>
          <a:solidFill>
            <a:srgbClr val="E5E5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E2471D-730B-D31D-B965-F4DF134F1025}"/>
              </a:ext>
            </a:extLst>
          </p:cNvPr>
          <p:cNvSpPr/>
          <p:nvPr/>
        </p:nvSpPr>
        <p:spPr>
          <a:xfrm>
            <a:off x="1154633" y="2963253"/>
            <a:ext cx="9891385" cy="94571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864563-286E-6C1D-28BD-CEC3E6FBC33F}"/>
              </a:ext>
            </a:extLst>
          </p:cNvPr>
          <p:cNvSpPr/>
          <p:nvPr/>
        </p:nvSpPr>
        <p:spPr>
          <a:xfrm>
            <a:off x="1154633" y="4236732"/>
            <a:ext cx="9891385" cy="945714"/>
          </a:xfrm>
          <a:prstGeom prst="rect">
            <a:avLst/>
          </a:prstGeom>
          <a:solidFill>
            <a:srgbClr val="E5E5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950D87-C7F7-976E-4873-35490CD520E7}"/>
              </a:ext>
            </a:extLst>
          </p:cNvPr>
          <p:cNvSpPr/>
          <p:nvPr/>
        </p:nvSpPr>
        <p:spPr>
          <a:xfrm>
            <a:off x="1154633" y="5499773"/>
            <a:ext cx="9891385" cy="94571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063B4DA5-076E-4544-0902-28332BBC3516}"/>
              </a:ext>
            </a:extLst>
          </p:cNvPr>
          <p:cNvSpPr txBox="1">
            <a:spLocks/>
          </p:cNvSpPr>
          <p:nvPr/>
        </p:nvSpPr>
        <p:spPr>
          <a:xfrm>
            <a:off x="1517018" y="2078626"/>
            <a:ext cx="9154378" cy="50190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>
                <a:solidFill>
                  <a:schemeClr val="bg1"/>
                </a:solidFill>
                <a:ea typeface="Calibri"/>
                <a:cs typeface="Calibri"/>
              </a:rPr>
              <a:t>Frontend and Backend Interaction: 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Vue 3 frontend communicates with .NET API</a:t>
            </a:r>
            <a:r>
              <a:rPr lang="en-US" sz="2000">
                <a:solidFill>
                  <a:schemeClr val="bg1"/>
                </a:solidFill>
                <a:ea typeface="Calibri"/>
                <a:cs typeface="Calibri"/>
              </a:rPr>
              <a:t> </a:t>
            </a:r>
            <a:endParaRPr lang="en-US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200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1F0151DE-5509-930B-3FAA-819F45704932}"/>
              </a:ext>
            </a:extLst>
          </p:cNvPr>
          <p:cNvSpPr txBox="1">
            <a:spLocks/>
          </p:cNvSpPr>
          <p:nvPr/>
        </p:nvSpPr>
        <p:spPr>
          <a:xfrm>
            <a:off x="1475264" y="3279036"/>
            <a:ext cx="9154378" cy="50190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>
                <a:ea typeface="Calibri" panose="020F0502020204030204"/>
                <a:cs typeface="Calibri" panose="020F0502020204030204"/>
              </a:rPr>
              <a:t>Main Datastore: </a:t>
            </a:r>
            <a:r>
              <a:rPr lang="en-US" sz="2400">
                <a:ea typeface="Calibri" panose="020F0502020204030204"/>
                <a:cs typeface="Calibri" panose="020F0502020204030204"/>
              </a:rPr>
              <a:t>MongoDB + Storage of original collection of links in SQL Server</a:t>
            </a:r>
          </a:p>
          <a:p>
            <a:pPr marL="0" indent="0">
              <a:buNone/>
            </a:pP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200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CEDC76FF-08B2-43B2-5454-0F94EC9DBBE4}"/>
              </a:ext>
            </a:extLst>
          </p:cNvPr>
          <p:cNvSpPr txBox="1">
            <a:spLocks/>
          </p:cNvSpPr>
          <p:nvPr/>
        </p:nvSpPr>
        <p:spPr>
          <a:xfrm>
            <a:off x="1256057" y="5721611"/>
            <a:ext cx="9154378" cy="5019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>
                <a:ea typeface="Calibri" panose="020F0502020204030204"/>
                <a:cs typeface="Calibri" panose="020F0502020204030204"/>
              </a:rPr>
              <a:t>Elastic Search: </a:t>
            </a:r>
            <a:r>
              <a:rPr lang="en-US" sz="2400">
                <a:ea typeface="Calibri" panose="020F0502020204030204"/>
                <a:cs typeface="Calibri" panose="020F0502020204030204"/>
              </a:rPr>
              <a:t>Efficient searching and indexing</a:t>
            </a:r>
          </a:p>
          <a:p>
            <a:pPr marL="0" indent="0">
              <a:buNone/>
            </a:pP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2000">
              <a:solidFill>
                <a:schemeClr val="tx2"/>
              </a:solidFill>
              <a:ea typeface="Calibri"/>
              <a:cs typeface="Calibri"/>
            </a:endParaRPr>
          </a:p>
        </p:txBody>
      </p:sp>
      <p:sp>
        <p:nvSpPr>
          <p:cNvPr id="27" name="Content Placeholder 5">
            <a:extLst>
              <a:ext uri="{FF2B5EF4-FFF2-40B4-BE49-F238E27FC236}">
                <a16:creationId xmlns:a16="http://schemas.microsoft.com/office/drawing/2014/main" id="{CF9F21FF-FE05-659F-F851-CF09626D8410}"/>
              </a:ext>
            </a:extLst>
          </p:cNvPr>
          <p:cNvSpPr txBox="1">
            <a:spLocks/>
          </p:cNvSpPr>
          <p:nvPr/>
        </p:nvSpPr>
        <p:spPr>
          <a:xfrm>
            <a:off x="1475264" y="4458570"/>
            <a:ext cx="9154378" cy="5019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>
                <a:solidFill>
                  <a:schemeClr val="bg1"/>
                </a:solidFill>
                <a:ea typeface="Calibri"/>
                <a:cs typeface="Calibri"/>
              </a:rPr>
              <a:t>Layered Database Approach: </a:t>
            </a:r>
            <a:r>
              <a:rPr lang="en-US" sz="2400">
                <a:solidFill>
                  <a:schemeClr val="bg1"/>
                </a:solidFill>
                <a:ea typeface="Calibri"/>
                <a:cs typeface="Calibri"/>
              </a:rPr>
              <a:t>Relational + Semi-structured</a:t>
            </a:r>
          </a:p>
          <a:p>
            <a:pPr marL="0" indent="0">
              <a:buNone/>
            </a:pP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  <a:p>
            <a:endParaRPr lang="en-US" sz="2000">
              <a:solidFill>
                <a:schemeClr val="tx2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46079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5EABB4-443C-FCF2-F7BF-A9133FE63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99006F0-D4EE-A9E7-678A-5273F77927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65E462-F765-23D3-2F15-7D98566F8D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C819FD-B3DC-29CA-D9F0-3B2C28F8E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C765D83-4115-2EC7-4191-F066B4102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EB672D3-CF45-DAA4-0479-D6ACD1F15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70A9770-7648-B807-085B-2870AA51C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1A0988C-9554-6D29-3335-6F6F6A177E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FE4527A-C769-BF2E-8282-BB212006C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53" y="464584"/>
            <a:ext cx="7693314" cy="772791"/>
          </a:xfrm>
        </p:spPr>
        <p:txBody>
          <a:bodyPr lIns="91440" tIns="45720" rIns="91440" bIns="45720">
            <a:normAutofit fontScale="90000"/>
          </a:bodyPr>
          <a:lstStyle/>
          <a:p>
            <a:pPr algn="r"/>
            <a:r>
              <a:rPr lang="en-US" sz="3600">
                <a:solidFill>
                  <a:schemeClr val="tx2"/>
                </a:solidFill>
                <a:latin typeface="Trade Gothic Next Heavy"/>
              </a:rPr>
              <a:t>System Design &amp; Architecture Continued 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8E7AB73-A9A8-6E84-E175-06F6E5101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119DA62-2FE4-536A-DDF9-C90B0E1627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0215091-73B4-32F3-BA83-0C1FC697BD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69F1796-3B46-AF4A-594F-27DED79470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E7F32D0-094F-7AC7-D7D4-1A08BD8AB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A white cloud with a plug in it&#10;&#10;AI-generated content may be incorrect.">
            <a:extLst>
              <a:ext uri="{FF2B5EF4-FFF2-40B4-BE49-F238E27FC236}">
                <a16:creationId xmlns:a16="http://schemas.microsoft.com/office/drawing/2014/main" id="{F5D1EE3D-606D-7725-9ABD-57E8C2430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357" y="851728"/>
            <a:ext cx="4114800" cy="1123950"/>
          </a:xfrm>
          <a:prstGeom prst="rect">
            <a:avLst/>
          </a:prstGeom>
        </p:spPr>
      </p:pic>
      <p:pic>
        <p:nvPicPr>
          <p:cNvPr id="6" name="Graphic 5" descr="Paper with solid fill">
            <a:extLst>
              <a:ext uri="{FF2B5EF4-FFF2-40B4-BE49-F238E27FC236}">
                <a16:creationId xmlns:a16="http://schemas.microsoft.com/office/drawing/2014/main" id="{FFC42874-3AE1-C5F9-9457-625FBE3360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39320" y="3426239"/>
            <a:ext cx="914400" cy="914400"/>
          </a:xfrm>
          <a:prstGeom prst="rect">
            <a:avLst/>
          </a:prstGeom>
        </p:spPr>
      </p:pic>
      <p:pic>
        <p:nvPicPr>
          <p:cNvPr id="7" name="Graphic 6" descr="Paper with solid fill">
            <a:extLst>
              <a:ext uri="{FF2B5EF4-FFF2-40B4-BE49-F238E27FC236}">
                <a16:creationId xmlns:a16="http://schemas.microsoft.com/office/drawing/2014/main" id="{6FB3320D-0735-CDF5-4801-878D0C6919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2773" y="3423478"/>
            <a:ext cx="914400" cy="914400"/>
          </a:xfrm>
          <a:prstGeom prst="rect">
            <a:avLst/>
          </a:prstGeom>
        </p:spPr>
      </p:pic>
      <p:pic>
        <p:nvPicPr>
          <p:cNvPr id="12" name="Graphic 11" descr="Paper with solid fill">
            <a:extLst>
              <a:ext uri="{FF2B5EF4-FFF2-40B4-BE49-F238E27FC236}">
                <a16:creationId xmlns:a16="http://schemas.microsoft.com/office/drawing/2014/main" id="{5E5C30C1-0701-4444-2D8F-ADEA51693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82999" y="1416464"/>
            <a:ext cx="914400" cy="914400"/>
          </a:xfrm>
          <a:prstGeom prst="rect">
            <a:avLst/>
          </a:prstGeom>
        </p:spPr>
      </p:pic>
      <p:pic>
        <p:nvPicPr>
          <p:cNvPr id="28" name="Graphic 27" descr="Paper with solid fill">
            <a:extLst>
              <a:ext uri="{FF2B5EF4-FFF2-40B4-BE49-F238E27FC236}">
                <a16:creationId xmlns:a16="http://schemas.microsoft.com/office/drawing/2014/main" id="{579ED16E-EC96-846A-773F-4CD08B85BA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3867" y="3433279"/>
            <a:ext cx="914400" cy="914400"/>
          </a:xfrm>
          <a:prstGeom prst="rect">
            <a:avLst/>
          </a:prstGeom>
        </p:spPr>
      </p:pic>
      <p:pic>
        <p:nvPicPr>
          <p:cNvPr id="29" name="Graphic 28" descr="Lightbulb outline">
            <a:extLst>
              <a:ext uri="{FF2B5EF4-FFF2-40B4-BE49-F238E27FC236}">
                <a16:creationId xmlns:a16="http://schemas.microsoft.com/office/drawing/2014/main" id="{8FD8DF82-582D-4ED1-3B89-2ABAEFEAC0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48000" y="2657475"/>
            <a:ext cx="914400" cy="914400"/>
          </a:xfrm>
          <a:prstGeom prst="rect">
            <a:avLst/>
          </a:prstGeom>
        </p:spPr>
      </p:pic>
      <p:pic>
        <p:nvPicPr>
          <p:cNvPr id="30" name="Graphic 29" descr="Lightbulb outline">
            <a:extLst>
              <a:ext uri="{FF2B5EF4-FFF2-40B4-BE49-F238E27FC236}">
                <a16:creationId xmlns:a16="http://schemas.microsoft.com/office/drawing/2014/main" id="{731CB42E-D6E0-A9EF-5736-6FFADCE700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15500" y="5276850"/>
            <a:ext cx="914400" cy="9144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818D970-2E47-AEC8-7916-628134C87C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0" y="5381625"/>
            <a:ext cx="533400" cy="704850"/>
          </a:xfrm>
          <a:prstGeom prst="rect">
            <a:avLst/>
          </a:prstGeom>
        </p:spPr>
      </p:pic>
      <p:pic>
        <p:nvPicPr>
          <p:cNvPr id="32" name="Graphic 31" descr="Images with solid fill">
            <a:extLst>
              <a:ext uri="{FF2B5EF4-FFF2-40B4-BE49-F238E27FC236}">
                <a16:creationId xmlns:a16="http://schemas.microsoft.com/office/drawing/2014/main" id="{90CD6612-D2F2-F7DB-2ADB-0478965A6C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8650" y="4219575"/>
            <a:ext cx="914400" cy="914400"/>
          </a:xfrm>
          <a:prstGeom prst="rect">
            <a:avLst/>
          </a:prstGeom>
        </p:spPr>
      </p:pic>
      <p:pic>
        <p:nvPicPr>
          <p:cNvPr id="33" name="Graphic 32" descr="Magnifying glass with solid fill">
            <a:extLst>
              <a:ext uri="{FF2B5EF4-FFF2-40B4-BE49-F238E27FC236}">
                <a16:creationId xmlns:a16="http://schemas.microsoft.com/office/drawing/2014/main" id="{AF99C4F9-E492-B49A-876E-289CB0808A8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000" y="2200275"/>
            <a:ext cx="914400" cy="914400"/>
          </a:xfrm>
          <a:prstGeom prst="rect">
            <a:avLst/>
          </a:prstGeom>
        </p:spPr>
      </p:pic>
      <p:pic>
        <p:nvPicPr>
          <p:cNvPr id="34" name="Graphic 33" descr="Leaf with solid fill">
            <a:extLst>
              <a:ext uri="{FF2B5EF4-FFF2-40B4-BE49-F238E27FC236}">
                <a16:creationId xmlns:a16="http://schemas.microsoft.com/office/drawing/2014/main" id="{D1F697BC-DB4D-50C3-AF4A-1335633CC56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590800" y="5276850"/>
            <a:ext cx="914400" cy="914400"/>
          </a:xfrm>
          <a:prstGeom prst="rect">
            <a:avLst/>
          </a:prstGeom>
        </p:spPr>
      </p:pic>
      <p:pic>
        <p:nvPicPr>
          <p:cNvPr id="35" name="Graphic 34" descr="Morse Code with solid fill">
            <a:extLst>
              <a:ext uri="{FF2B5EF4-FFF2-40B4-BE49-F238E27FC236}">
                <a16:creationId xmlns:a16="http://schemas.microsoft.com/office/drawing/2014/main" id="{6BE8068D-461F-9944-9D96-590E994748D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448550" y="5276850"/>
            <a:ext cx="914400" cy="9144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55DE1770-C5A5-7380-A0A2-F5862604BD12}"/>
              </a:ext>
            </a:extLst>
          </p:cNvPr>
          <p:cNvSpPr txBox="1"/>
          <p:nvPr/>
        </p:nvSpPr>
        <p:spPr>
          <a:xfrm>
            <a:off x="4953000" y="2197893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Main</a:t>
            </a:r>
            <a:endParaRPr lang="en-US"/>
          </a:p>
          <a:p>
            <a:pPr algn="ctr"/>
            <a:r>
              <a:rPr lang="en-US">
                <a:ea typeface="Calibri"/>
                <a:cs typeface="Calibri"/>
              </a:rPr>
              <a:t>Activates Pipeline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F8BF714-2A62-C791-C177-0E32B5FF54EB}"/>
              </a:ext>
            </a:extLst>
          </p:cNvPr>
          <p:cNvSpPr txBox="1"/>
          <p:nvPr/>
        </p:nvSpPr>
        <p:spPr>
          <a:xfrm>
            <a:off x="2138362" y="3433762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.NET API</a:t>
            </a:r>
            <a:endParaRPr lang="en-US"/>
          </a:p>
          <a:p>
            <a:pPr algn="ctr"/>
            <a:r>
              <a:rPr lang="en-US">
                <a:ea typeface="Calibri"/>
                <a:cs typeface="Calibri"/>
              </a:rPr>
              <a:t>Middleman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3BF265-CB0E-A833-7010-2BA4ED78F1D8}"/>
              </a:ext>
            </a:extLst>
          </p:cNvPr>
          <p:cNvSpPr txBox="1"/>
          <p:nvPr/>
        </p:nvSpPr>
        <p:spPr>
          <a:xfrm>
            <a:off x="-280988" y="4995862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UI visualizes</a:t>
            </a:r>
            <a:endParaRPr lang="en-US"/>
          </a:p>
          <a:p>
            <a:pPr algn="ctr"/>
            <a:r>
              <a:rPr lang="en-US">
                <a:ea typeface="Calibri"/>
                <a:cs typeface="Calibri"/>
              </a:rPr>
              <a:t>searches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883A43-9C8D-D6E3-4E9E-82F747AD0551}"/>
              </a:ext>
            </a:extLst>
          </p:cNvPr>
          <p:cNvSpPr txBox="1"/>
          <p:nvPr/>
        </p:nvSpPr>
        <p:spPr>
          <a:xfrm>
            <a:off x="-282689" y="3110252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Elastic Search Server</a:t>
            </a:r>
            <a:endParaRPr lang="en-US"/>
          </a:p>
          <a:p>
            <a:pPr algn="ctr"/>
            <a:r>
              <a:rPr lang="en-US">
                <a:ea typeface="Calibri"/>
                <a:cs typeface="Calibri"/>
              </a:rPr>
              <a:t>Searches through unstructured data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D54456-C5C3-2161-2BF9-D5A82C6FC2FC}"/>
              </a:ext>
            </a:extLst>
          </p:cNvPr>
          <p:cNvSpPr txBox="1"/>
          <p:nvPr/>
        </p:nvSpPr>
        <p:spPr>
          <a:xfrm>
            <a:off x="1676400" y="6088856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Mongo DB</a:t>
            </a:r>
            <a:endParaRPr lang="en-US"/>
          </a:p>
          <a:p>
            <a:pPr algn="ctr"/>
            <a:r>
              <a:rPr lang="en-US">
                <a:ea typeface="Calibri"/>
                <a:cs typeface="Calibri"/>
              </a:rPr>
              <a:t>Transaction and Interaction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3C5B7C-2447-0931-A4CF-2852936A554B}"/>
              </a:ext>
            </a:extLst>
          </p:cNvPr>
          <p:cNvSpPr txBox="1"/>
          <p:nvPr/>
        </p:nvSpPr>
        <p:spPr>
          <a:xfrm>
            <a:off x="3967162" y="4224337"/>
            <a:ext cx="188595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ETL Parser pulls valued data and inserts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F4BAA6-7FA8-C9A2-79B0-06DF05C433AE}"/>
              </a:ext>
            </a:extLst>
          </p:cNvPr>
          <p:cNvSpPr txBox="1"/>
          <p:nvPr/>
        </p:nvSpPr>
        <p:spPr>
          <a:xfrm>
            <a:off x="4519612" y="6091237"/>
            <a:ext cx="267652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SQL Server</a:t>
            </a:r>
          </a:p>
          <a:p>
            <a:pPr algn="ctr"/>
            <a:r>
              <a:rPr lang="en-US">
                <a:ea typeface="Calibri"/>
                <a:cs typeface="Calibri"/>
              </a:rPr>
              <a:t>Data bank of key data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C38CF5-4737-E53F-286A-075DE4D975DA}"/>
              </a:ext>
            </a:extLst>
          </p:cNvPr>
          <p:cNvSpPr txBox="1"/>
          <p:nvPr/>
        </p:nvSpPr>
        <p:spPr>
          <a:xfrm>
            <a:off x="6815137" y="6091237"/>
            <a:ext cx="21907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JSON of YouTube metrics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8A1C00E-3555-A3B3-8D38-AF0DE210BB55}"/>
              </a:ext>
            </a:extLst>
          </p:cNvPr>
          <p:cNvSpPr txBox="1"/>
          <p:nvPr/>
        </p:nvSpPr>
        <p:spPr>
          <a:xfrm>
            <a:off x="9120187" y="6091237"/>
            <a:ext cx="21145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Self-hosted API for metric analytics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C2EF51-4B4D-D74E-5CBB-E479268AB6E9}"/>
              </a:ext>
            </a:extLst>
          </p:cNvPr>
          <p:cNvSpPr txBox="1"/>
          <p:nvPr/>
        </p:nvSpPr>
        <p:spPr>
          <a:xfrm>
            <a:off x="7558087" y="4224337"/>
            <a:ext cx="208597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err="1">
                <a:ea typeface="Calibri"/>
                <a:cs typeface="Calibri"/>
              </a:rPr>
              <a:t>Hoster</a:t>
            </a:r>
          </a:p>
          <a:p>
            <a:pPr algn="ctr"/>
            <a:r>
              <a:rPr lang="en-US">
                <a:ea typeface="Calibri"/>
                <a:cs typeface="Calibri"/>
              </a:rPr>
              <a:t>Collects JSON and hosts API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1831A48-F962-9843-4315-F06829A49974}"/>
              </a:ext>
            </a:extLst>
          </p:cNvPr>
          <p:cNvSpPr txBox="1"/>
          <p:nvPr/>
        </p:nvSpPr>
        <p:spPr>
          <a:xfrm>
            <a:off x="5405437" y="4224337"/>
            <a:ext cx="267652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ea typeface="Calibri"/>
                <a:cs typeface="Calibri"/>
              </a:rPr>
              <a:t>Metrics</a:t>
            </a:r>
          </a:p>
          <a:p>
            <a:pPr algn="ctr"/>
            <a:r>
              <a:rPr lang="en-US">
                <a:ea typeface="Calibri"/>
                <a:cs typeface="Calibri"/>
              </a:rPr>
              <a:t>Runs SQL functions</a:t>
            </a:r>
          </a:p>
        </p:txBody>
      </p:sp>
      <p:pic>
        <p:nvPicPr>
          <p:cNvPr id="47" name="Graphic 46" descr="Arrow Down with solid fill">
            <a:extLst>
              <a:ext uri="{FF2B5EF4-FFF2-40B4-BE49-F238E27FC236}">
                <a16:creationId xmlns:a16="http://schemas.microsoft.com/office/drawing/2014/main" id="{85CAD719-656D-7EA0-232F-51A39351A40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-1080000">
            <a:off x="6038850" y="2828925"/>
            <a:ext cx="923925" cy="571500"/>
          </a:xfrm>
          <a:prstGeom prst="rect">
            <a:avLst/>
          </a:prstGeom>
        </p:spPr>
      </p:pic>
      <p:pic>
        <p:nvPicPr>
          <p:cNvPr id="48" name="Graphic 47" descr="Arrow Down with solid fill">
            <a:extLst>
              <a:ext uri="{FF2B5EF4-FFF2-40B4-BE49-F238E27FC236}">
                <a16:creationId xmlns:a16="http://schemas.microsoft.com/office/drawing/2014/main" id="{F808E810-EB7B-F603-1F04-ECCD377CA5A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8540000">
            <a:off x="7260401" y="2486126"/>
            <a:ext cx="876300" cy="1257300"/>
          </a:xfrm>
          <a:prstGeom prst="rect">
            <a:avLst/>
          </a:prstGeom>
        </p:spPr>
      </p:pic>
      <p:pic>
        <p:nvPicPr>
          <p:cNvPr id="49" name="Graphic 48" descr="Arrow Down with solid fill">
            <a:extLst>
              <a:ext uri="{FF2B5EF4-FFF2-40B4-BE49-F238E27FC236}">
                <a16:creationId xmlns:a16="http://schemas.microsoft.com/office/drawing/2014/main" id="{77530314-CFFD-FA5F-282B-AD5E6EA0C0A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2040000">
            <a:off x="4857026" y="2723140"/>
            <a:ext cx="904875" cy="733425"/>
          </a:xfrm>
          <a:prstGeom prst="rect">
            <a:avLst/>
          </a:prstGeom>
        </p:spPr>
      </p:pic>
      <p:pic>
        <p:nvPicPr>
          <p:cNvPr id="50" name="Graphic 49" descr="Arrow Down with solid fill">
            <a:extLst>
              <a:ext uri="{FF2B5EF4-FFF2-40B4-BE49-F238E27FC236}">
                <a16:creationId xmlns:a16="http://schemas.microsoft.com/office/drawing/2014/main" id="{6811EADC-C93C-2EFC-F55C-888AD24E54A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4800000">
            <a:off x="4160337" y="2030620"/>
            <a:ext cx="971550" cy="1581150"/>
          </a:xfrm>
          <a:prstGeom prst="rect">
            <a:avLst/>
          </a:prstGeom>
        </p:spPr>
      </p:pic>
      <p:pic>
        <p:nvPicPr>
          <p:cNvPr id="51" name="Graphic 50" descr="Transfer with solid fill">
            <a:extLst>
              <a:ext uri="{FF2B5EF4-FFF2-40B4-BE49-F238E27FC236}">
                <a16:creationId xmlns:a16="http://schemas.microsoft.com/office/drawing/2014/main" id="{1101DE15-4DFC-9648-99AF-9814CFA4BE5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133600" y="2619375"/>
            <a:ext cx="914400" cy="914400"/>
          </a:xfrm>
          <a:prstGeom prst="rect">
            <a:avLst/>
          </a:prstGeom>
        </p:spPr>
      </p:pic>
      <p:pic>
        <p:nvPicPr>
          <p:cNvPr id="52" name="Graphic 51" descr="Transfer with solid fill">
            <a:extLst>
              <a:ext uri="{FF2B5EF4-FFF2-40B4-BE49-F238E27FC236}">
                <a16:creationId xmlns:a16="http://schemas.microsoft.com/office/drawing/2014/main" id="{1BEB9CF9-BD73-3E83-FCCF-7F7B7753760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-2040000">
            <a:off x="1702262" y="3757866"/>
            <a:ext cx="1200150" cy="923925"/>
          </a:xfrm>
          <a:prstGeom prst="rect">
            <a:avLst/>
          </a:prstGeom>
        </p:spPr>
      </p:pic>
      <p:pic>
        <p:nvPicPr>
          <p:cNvPr id="53" name="Graphic 52" descr="Transfer with solid fill">
            <a:extLst>
              <a:ext uri="{FF2B5EF4-FFF2-40B4-BE49-F238E27FC236}">
                <a16:creationId xmlns:a16="http://schemas.microsoft.com/office/drawing/2014/main" id="{EA95DD42-35F9-8604-6271-5BA5FA84F27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5400000">
            <a:off x="2714625" y="4210050"/>
            <a:ext cx="1276350" cy="857250"/>
          </a:xfrm>
          <a:prstGeom prst="rect">
            <a:avLst/>
          </a:prstGeom>
        </p:spPr>
      </p:pic>
      <p:pic>
        <p:nvPicPr>
          <p:cNvPr id="54" name="Graphic 53" descr="Arrow Down with solid fill">
            <a:extLst>
              <a:ext uri="{FF2B5EF4-FFF2-40B4-BE49-F238E27FC236}">
                <a16:creationId xmlns:a16="http://schemas.microsoft.com/office/drawing/2014/main" id="{9DE383E6-A3DB-8B36-4A2C-CDD5F70045B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2900000">
            <a:off x="3402926" y="4814626"/>
            <a:ext cx="942975" cy="1019175"/>
          </a:xfrm>
          <a:prstGeom prst="rect">
            <a:avLst/>
          </a:prstGeom>
        </p:spPr>
      </p:pic>
      <p:pic>
        <p:nvPicPr>
          <p:cNvPr id="55" name="Graphic 54" descr="Arrow Down with solid fill">
            <a:extLst>
              <a:ext uri="{FF2B5EF4-FFF2-40B4-BE49-F238E27FC236}">
                <a16:creationId xmlns:a16="http://schemas.microsoft.com/office/drawing/2014/main" id="{A5C50567-8037-2400-DA5E-6AE5AA5CE67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2900000">
            <a:off x="5856036" y="4767179"/>
            <a:ext cx="962025" cy="600075"/>
          </a:xfrm>
          <a:prstGeom prst="rect">
            <a:avLst/>
          </a:prstGeom>
        </p:spPr>
      </p:pic>
      <p:pic>
        <p:nvPicPr>
          <p:cNvPr id="56" name="Graphic 55" descr="Arrow Down with solid fill">
            <a:extLst>
              <a:ext uri="{FF2B5EF4-FFF2-40B4-BE49-F238E27FC236}">
                <a16:creationId xmlns:a16="http://schemas.microsoft.com/office/drawing/2014/main" id="{12CE3EF4-DEC3-C8D9-D2AA-0825FCC092A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9440000">
            <a:off x="6811375" y="4803932"/>
            <a:ext cx="857250" cy="523875"/>
          </a:xfrm>
          <a:prstGeom prst="rect">
            <a:avLst/>
          </a:prstGeom>
        </p:spPr>
      </p:pic>
      <p:pic>
        <p:nvPicPr>
          <p:cNvPr id="57" name="Graphic 56" descr="Arrow Down with solid fill">
            <a:extLst>
              <a:ext uri="{FF2B5EF4-FFF2-40B4-BE49-F238E27FC236}">
                <a16:creationId xmlns:a16="http://schemas.microsoft.com/office/drawing/2014/main" id="{CF516B00-55B4-48B1-0BB9-88E590525E8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9440000">
            <a:off x="5077825" y="4889657"/>
            <a:ext cx="857250" cy="523875"/>
          </a:xfrm>
          <a:prstGeom prst="rect">
            <a:avLst/>
          </a:prstGeom>
        </p:spPr>
      </p:pic>
      <p:pic>
        <p:nvPicPr>
          <p:cNvPr id="58" name="Graphic 57" descr="Arrow Down with solid fill">
            <a:extLst>
              <a:ext uri="{FF2B5EF4-FFF2-40B4-BE49-F238E27FC236}">
                <a16:creationId xmlns:a16="http://schemas.microsoft.com/office/drawing/2014/main" id="{CD224ED8-286C-A4BC-8A00-04CDD4EF42C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2900000">
            <a:off x="7427294" y="4819236"/>
            <a:ext cx="962025" cy="571500"/>
          </a:xfrm>
          <a:prstGeom prst="rect">
            <a:avLst/>
          </a:prstGeom>
        </p:spPr>
      </p:pic>
      <p:pic>
        <p:nvPicPr>
          <p:cNvPr id="59" name="Graphic 58" descr="Arrow Down with solid fill">
            <a:extLst>
              <a:ext uri="{FF2B5EF4-FFF2-40B4-BE49-F238E27FC236}">
                <a16:creationId xmlns:a16="http://schemas.microsoft.com/office/drawing/2014/main" id="{1A83A587-A420-5291-C732-C055FFE6BA5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8480000">
            <a:off x="8993109" y="4791628"/>
            <a:ext cx="857250" cy="752475"/>
          </a:xfrm>
          <a:prstGeom prst="rect">
            <a:avLst/>
          </a:prstGeom>
        </p:spPr>
      </p:pic>
      <p:pic>
        <p:nvPicPr>
          <p:cNvPr id="60" name="Graphic 59" descr="Arrow Down with solid fill">
            <a:extLst>
              <a:ext uri="{FF2B5EF4-FFF2-40B4-BE49-F238E27FC236}">
                <a16:creationId xmlns:a16="http://schemas.microsoft.com/office/drawing/2014/main" id="{85C89C4B-082B-706B-0F56-12C78E4DF88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16200000">
            <a:off x="5449809" y="3562903"/>
            <a:ext cx="857250" cy="752475"/>
          </a:xfrm>
          <a:prstGeom prst="rect">
            <a:avLst/>
          </a:prstGeom>
        </p:spPr>
      </p:pic>
      <p:pic>
        <p:nvPicPr>
          <p:cNvPr id="61" name="Graphic 60" descr="Arrow Down with solid fill">
            <a:extLst>
              <a:ext uri="{FF2B5EF4-FFF2-40B4-BE49-F238E27FC236}">
                <a16:creationId xmlns:a16="http://schemas.microsoft.com/office/drawing/2014/main" id="{D4EB6A3D-F9F5-80D0-BB1A-0EF04D8E850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056801" y="1884939"/>
            <a:ext cx="904875" cy="733425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346A5489-B934-6A75-24A1-70C9A35FE07F}"/>
              </a:ext>
            </a:extLst>
          </p:cNvPr>
          <p:cNvSpPr txBox="1"/>
          <p:nvPr/>
        </p:nvSpPr>
        <p:spPr>
          <a:xfrm>
            <a:off x="8141493" y="1426368"/>
            <a:ext cx="274320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Scripts are activated via threading from a previous script</a:t>
            </a:r>
          </a:p>
        </p:txBody>
      </p:sp>
    </p:spTree>
    <p:extLst>
      <p:ext uri="{BB962C8B-B14F-4D97-AF65-F5344CB8AC3E}">
        <p14:creationId xmlns:p14="http://schemas.microsoft.com/office/powerpoint/2010/main" val="37789817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41807F-151B-B712-7B03-52A6F5B79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747E233-5127-A4FE-60F7-6FE33B0E0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3DC21C-1B5E-9269-1B24-6E6017D554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205B74D-D17E-07CF-7939-CF07826B0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C27B7E6-EAAD-EB5D-1C78-3CE171E7A5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EF7F3FC-C477-A4B2-2C2E-166FFBE4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51A9429-6A5D-1308-A6B6-59E4121DBC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6039F63-CCAB-D443-E216-CEAD2DCEBD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016FF61-BC63-A8DC-AEC5-A159A315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53" y="464584"/>
            <a:ext cx="7693314" cy="772791"/>
          </a:xfrm>
        </p:spPr>
        <p:txBody>
          <a:bodyPr lIns="91440" tIns="45720" rIns="91440" bIns="45720">
            <a:normAutofit fontScale="90000"/>
          </a:bodyPr>
          <a:lstStyle/>
          <a:p>
            <a:pPr algn="r"/>
            <a:r>
              <a:rPr lang="en-US" sz="3600">
                <a:solidFill>
                  <a:schemeClr val="tx2"/>
                </a:solidFill>
                <a:latin typeface="Trade Gothic Next Heavy"/>
              </a:rPr>
              <a:t>Big Data Processing Pipeline &amp; Data Transformations  (Pt. 1)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343783-07AD-D10B-BCE1-676965401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941" y="1444131"/>
            <a:ext cx="5252202" cy="493521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400" b="1">
                <a:solidFill>
                  <a:schemeClr val="tx2"/>
                </a:solidFill>
                <a:ea typeface="Calibri"/>
                <a:cs typeface="Calibri"/>
              </a:rPr>
              <a:t>Scraping </a:t>
            </a:r>
            <a:endParaRPr lang="en-US">
              <a:solidFill>
                <a:schemeClr val="tx2"/>
              </a:solidFill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2"/>
                </a:solidFill>
                <a:ea typeface="Calibri"/>
                <a:cs typeface="Calibri"/>
              </a:rPr>
              <a:t>Generates random YouTube searches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2"/>
                </a:solidFill>
                <a:ea typeface="Calibri"/>
                <a:cs typeface="Calibri"/>
              </a:rPr>
              <a:t>Filters result to only include playlists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2"/>
                </a:solidFill>
                <a:ea typeface="Calibri"/>
                <a:cs typeface="Calibri"/>
              </a:rPr>
              <a:t>Sorts by recency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2"/>
                </a:solidFill>
                <a:ea typeface="Calibri"/>
                <a:cs typeface="Calibri"/>
              </a:rPr>
              <a:t>Enumerates over each playlist one video at a time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2"/>
                </a:solidFill>
                <a:ea typeface="Calibri"/>
                <a:cs typeface="Calibri"/>
              </a:rPr>
              <a:t>Stores result in database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2"/>
                </a:solidFill>
                <a:ea typeface="Calibri"/>
                <a:cs typeface="Calibri"/>
              </a:rPr>
              <a:t>For each link in the database, as much metadata as possible is extracted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>
                <a:solidFill>
                  <a:schemeClr val="tx2"/>
                </a:solidFill>
                <a:ea typeface="Calibri"/>
                <a:cs typeface="Calibri"/>
              </a:rPr>
              <a:t>Data is written back to database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48B8D37-98E9-B2E6-5412-352C501A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2DB4598-2BE0-2DA4-86BE-4F87789C4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8C3CC42-D711-69B8-81FD-A57B56B07E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2F3F34F-E196-4AD3-6A53-1ADD6EA3A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AB97BB6-6BD0-C73B-B1F1-637610DD37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D199AF8-2614-6F6D-E73E-A88B47295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467" y="2154149"/>
            <a:ext cx="5509568" cy="375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3398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44257F-F85E-3A3D-3A4E-BA3A42EE2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E502447-66F1-1AE0-9D02-01DC67A9E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51E253-2D5B-A0A1-21CD-D610A1C1E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1BD772C-FBEA-D8B8-1EDA-DDE7A1E1A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3425D98-A309-7AA2-0972-4475B90EB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71C900E-6D54-FD06-1412-FF2351A88F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10377E-A76B-B7FD-D1EA-BE175BD82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6B3DA0F-0CD0-B74F-806E-D751D4A2C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6FC53AD-816A-FDBA-07FF-FFCB38F1B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53" y="464584"/>
            <a:ext cx="7693314" cy="772791"/>
          </a:xfrm>
        </p:spPr>
        <p:txBody>
          <a:bodyPr lIns="91440" tIns="45720" rIns="91440" bIns="45720">
            <a:normAutofit fontScale="90000"/>
          </a:bodyPr>
          <a:lstStyle/>
          <a:p>
            <a:pPr algn="r"/>
            <a:r>
              <a:rPr lang="en-US" sz="3600">
                <a:solidFill>
                  <a:schemeClr val="tx2"/>
                </a:solidFill>
                <a:latin typeface="Trade Gothic Next Heavy"/>
              </a:rPr>
              <a:t>Big Data Processing Pipeline &amp; Data Transformations  (Pt. 2)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C32262-3DC2-26BF-1EAB-4289DFE1D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12" y="1234758"/>
            <a:ext cx="5709721" cy="522820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>
                <a:solidFill>
                  <a:schemeClr val="tx2"/>
                </a:solidFill>
                <a:ea typeface="Calibri"/>
                <a:cs typeface="Calibri"/>
              </a:rPr>
              <a:t>API invokes Elasticsearch indexing</a:t>
            </a:r>
            <a:endParaRPr lang="en-US" b="1">
              <a:solidFill>
                <a:schemeClr val="tx2"/>
              </a:solidFill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2"/>
                </a:solidFill>
                <a:ea typeface="Calibri"/>
                <a:cs typeface="Calibri"/>
              </a:rPr>
              <a:t>Tokenizes text into searchable terms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2"/>
                </a:solidFill>
                <a:ea typeface="Calibri"/>
                <a:cs typeface="Calibri"/>
              </a:rPr>
              <a:t>Normalizes terms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600">
                <a:solidFill>
                  <a:schemeClr val="tx2"/>
                </a:solidFill>
                <a:ea typeface="Calibri"/>
                <a:cs typeface="Calibri"/>
              </a:rPr>
              <a:t>Lowercasing, removing accents, etc.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2"/>
                </a:solidFill>
                <a:ea typeface="Calibri"/>
                <a:cs typeface="Calibri"/>
              </a:rPr>
              <a:t>Applies stemming algorithms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2"/>
                </a:solidFill>
                <a:ea typeface="Calibri"/>
                <a:cs typeface="Calibri"/>
              </a:rPr>
              <a:t>Removes stop words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2"/>
                </a:solidFill>
                <a:ea typeface="Calibri"/>
                <a:cs typeface="Calibri"/>
              </a:rPr>
              <a:t>Builds inverted indexes to map terms to documents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2"/>
                </a:solidFill>
                <a:ea typeface="Calibri"/>
                <a:cs typeface="Calibri"/>
              </a:rPr>
              <a:t>Stores indexed documents for efficient retrieval</a:t>
            </a:r>
          </a:p>
          <a:p>
            <a:r>
              <a:rPr lang="en-US" sz="2400" b="1" i="1">
                <a:solidFill>
                  <a:schemeClr val="tx2"/>
                </a:solidFill>
                <a:ea typeface="Calibri"/>
                <a:cs typeface="Calibri"/>
              </a:rPr>
              <a:t>Note: </a:t>
            </a:r>
            <a:r>
              <a:rPr lang="en-US" sz="2400">
                <a:solidFill>
                  <a:schemeClr val="tx2"/>
                </a:solidFill>
                <a:ea typeface="Calibri"/>
                <a:cs typeface="Calibri"/>
              </a:rPr>
              <a:t>The implementation details of these algorithms are abstracted away from the programmer</a:t>
            </a:r>
          </a:p>
          <a:p>
            <a:r>
              <a:rPr lang="en-US" sz="2400">
                <a:solidFill>
                  <a:schemeClr val="tx2"/>
                </a:solidFill>
                <a:ea typeface="Calibri"/>
                <a:cs typeface="Calibri"/>
              </a:rPr>
              <a:t>Must be ran before any searches are performed if there is new data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B87F308-3B29-D16D-ADD1-14CE598B4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9E3B396-D6A2-2884-0E99-0879FC8247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DCB3310-07CA-5D57-A67F-ECEE813F24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96A526A-5EF4-7BD7-FA5B-2F50E473B6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F6207AD-7425-BB41-C365-5C4FC127F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14895DF6-8F04-56A7-2EC5-5F168DA0E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975" y="1801728"/>
            <a:ext cx="5933575" cy="4247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8985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79AE40-0CAD-91C0-32E1-9234DA39A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1E15F4-DDB9-6793-A3B4-B3886D25C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BD96A5-79E3-C212-ED69-E55269CC4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FF65DE9-DBFA-3494-6316-C9DDFC4C0D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55F7F1E-14D7-17B5-AF68-317D149B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AA7C503-8AE1-25AE-FE40-9381CF773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222CBA4-72DF-5A5C-F280-79BCCF26FC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69679DA-7473-156D-EDFF-08ABA84757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447932C-CDE6-9DE9-C14D-3ABB7FC53C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53" y="464584"/>
            <a:ext cx="7693314" cy="772791"/>
          </a:xfrm>
        </p:spPr>
        <p:txBody>
          <a:bodyPr lIns="91440" tIns="45720" rIns="91440" bIns="45720">
            <a:normAutofit fontScale="90000"/>
          </a:bodyPr>
          <a:lstStyle/>
          <a:p>
            <a:pPr algn="r"/>
            <a:r>
              <a:rPr lang="en-US" sz="3600">
                <a:solidFill>
                  <a:schemeClr val="tx2"/>
                </a:solidFill>
                <a:latin typeface="Trade Gothic Next Heavy"/>
              </a:rPr>
              <a:t>Big Data Processing Pipeline &amp; Data Transformations  (Pt. 3)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22225C-37B2-D23D-B67A-0FF2FA5F1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12" y="1234758"/>
            <a:ext cx="5709721" cy="522820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>
                <a:solidFill>
                  <a:schemeClr val="tx2"/>
                </a:solidFill>
                <a:ea typeface="Calibri"/>
                <a:cs typeface="Calibri"/>
              </a:rPr>
              <a:t>API invokes Elasticsearch searches</a:t>
            </a:r>
            <a:endParaRPr lang="en-US" b="1">
              <a:solidFill>
                <a:schemeClr val="tx2"/>
              </a:solidFill>
              <a:ea typeface="Calibri"/>
              <a:cs typeface="Calibri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2"/>
                </a:solidFill>
                <a:ea typeface="Calibri"/>
                <a:cs typeface="Calibri"/>
              </a:rPr>
              <a:t>Query text is analyzed using the tokenizer and filters used for searching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2"/>
                </a:solidFill>
                <a:ea typeface="Calibri"/>
                <a:cs typeface="Calibri"/>
              </a:rPr>
              <a:t>Looks up matching terms in the inverted index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2"/>
                </a:solidFill>
                <a:ea typeface="Calibri"/>
                <a:cs typeface="Calibri"/>
              </a:rPr>
              <a:t>Uses BM25 to compute relevancy scores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800">
                <a:solidFill>
                  <a:schemeClr val="tx2"/>
                </a:solidFill>
                <a:ea typeface="Calibri"/>
                <a:cs typeface="Calibri"/>
              </a:rPr>
              <a:t>More modern variant of TF-IDF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800">
                <a:solidFill>
                  <a:schemeClr val="tx2"/>
                </a:solidFill>
                <a:ea typeface="Calibri"/>
                <a:cs typeface="Calibri"/>
              </a:rPr>
              <a:t>Improves TF weighting with saturation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US" sz="1800">
                <a:solidFill>
                  <a:schemeClr val="tx2"/>
                </a:solidFill>
                <a:ea typeface="Calibri"/>
                <a:cs typeface="Calibri"/>
              </a:rPr>
              <a:t>Probabilistic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2"/>
                </a:solidFill>
                <a:ea typeface="Calibri"/>
                <a:cs typeface="Calibri"/>
              </a:rPr>
              <a:t>Ranks documents by score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000">
                <a:solidFill>
                  <a:schemeClr val="tx2"/>
                </a:solidFill>
                <a:ea typeface="Calibri"/>
                <a:cs typeface="Calibri"/>
              </a:rPr>
              <a:t>Returns paginated results to the API for the frontend to display</a:t>
            </a:r>
          </a:p>
          <a:p>
            <a:r>
              <a:rPr lang="en-US" sz="2400" i="1">
                <a:solidFill>
                  <a:schemeClr val="tx2"/>
                </a:solidFill>
                <a:ea typeface="Calibri"/>
                <a:cs typeface="Calibri"/>
              </a:rPr>
              <a:t>Note: </a:t>
            </a:r>
            <a:r>
              <a:rPr lang="en-US" sz="2400">
                <a:solidFill>
                  <a:schemeClr val="tx2"/>
                </a:solidFill>
                <a:ea typeface="Calibri"/>
                <a:cs typeface="Calibri"/>
              </a:rPr>
              <a:t>The implementation details for searching are abstracted away from the programmer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5D81088-A59A-0D15-171F-A22ECDCC5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5C8CE59-7201-6859-FDEA-D68643CC7B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177F484-48C7-1572-B5C6-1735FAC8E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4FE31C2-64C2-0410-937E-E56F1145C4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DDA96B3-6F53-D737-0ED6-3AE4ED7F8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96BC64CB-7C98-BEAD-0CD4-B7F03B792E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9809" y="2097756"/>
            <a:ext cx="5138989" cy="349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566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376124-7D19-A0FA-D307-7599A0C1B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DD1E0C3-0904-D889-913B-6120C3E2B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0BB785-FF60-DCD2-61E3-03F78CDB9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E1070AB-90B3-8DEE-991E-D93FF972B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CE72BB5-5CA0-5ED8-2E44-9AA7A0B68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4A18013-3EE2-ABFF-19E1-7E41F0AD72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7A0DBBD-E18A-8CBF-8E8C-D653C149F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223B21E-8F6E-4BD6-8686-69DADCAB46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22A8120-8268-B4B0-6394-E3EE2CA60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53" y="464584"/>
            <a:ext cx="7693314" cy="772791"/>
          </a:xfrm>
        </p:spPr>
        <p:txBody>
          <a:bodyPr lIns="91440" tIns="45720" rIns="91440" bIns="45720">
            <a:normAutofit fontScale="90000"/>
          </a:bodyPr>
          <a:lstStyle/>
          <a:p>
            <a:pPr algn="r"/>
            <a:r>
              <a:rPr lang="en-US" sz="3600">
                <a:solidFill>
                  <a:schemeClr val="tx2"/>
                </a:solidFill>
                <a:latin typeface="Trade Gothic Next Heavy"/>
              </a:rPr>
              <a:t>Big Data Processing Pipeline &amp; Data Transformations  (Pt. 4)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D980E24-59E4-818E-35E6-2112D9FE98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39423C9-6911-0247-D127-925E6C11D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70AD46B-4A1D-B581-5A51-EE062B9E4F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43CBEBB-4BB3-C9B4-610B-B9BF42E485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3D57DA7-5761-5CB9-00FB-921037FC18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5CB34D89-2332-95D6-A112-22019A4736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155" y="2050381"/>
            <a:ext cx="6659981" cy="3850107"/>
          </a:xfrm>
          <a:prstGeom prst="rect">
            <a:avLst/>
          </a:prstGeom>
        </p:spPr>
      </p:pic>
      <p:pic>
        <p:nvPicPr>
          <p:cNvPr id="12" name="Picture 11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69CA64C-8ED4-19C2-3CE2-6842AA096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128" y="3691188"/>
            <a:ext cx="4634163" cy="221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414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3BDF28-841D-75FE-3E95-A8FB6AA6B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B75580-489D-9805-58D5-5EBBB3A43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FC46100-B983-1E07-4629-D3EB0E8D0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00F7719-7F5F-FA3F-D7AA-55F3A328D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17121F4-29C4-7C17-FF34-7D3C2A2FC2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9C4F5B4-C1CC-6C96-07B7-AF31B613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7DC2380-8FAD-86F6-E564-7B5368DEB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AC48CBD-7554-E8D9-07CD-53EDC0ADE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5F9E34-EA3C-D450-A21C-462F8F8AB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1995" y="3040359"/>
            <a:ext cx="6233709" cy="772791"/>
          </a:xfrm>
        </p:spPr>
        <p:txBody>
          <a:bodyPr lIns="91440" tIns="45720" rIns="91440" bIns="45720">
            <a:normAutofit/>
          </a:bodyPr>
          <a:lstStyle/>
          <a:p>
            <a:pPr algn="r"/>
            <a:r>
              <a:rPr lang="en-US" sz="3600">
                <a:solidFill>
                  <a:schemeClr val="tx2"/>
                </a:solidFill>
                <a:latin typeface="Trade Gothic Next Heavy"/>
              </a:rPr>
              <a:t>Database Design (MongoDB)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0CF24E8-9976-D628-CC65-09C6EA1139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86A8CBD-A1F4-896B-C15A-28A85294C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60EAEFD-A380-3A52-6AE4-503FF7B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A1ABA0C-F149-CF62-5C6F-358F63299A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4BCB706-6657-6056-5FBA-5A61335302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270948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D3386B-0254-BBBA-29D5-D5E9FCBD2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368F7D7-F7EC-20CF-928F-2DD0ECD0D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5E558E-5029-E3E2-E432-60B6289627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C446D62-C3C6-6C4B-3D61-B9AA56DC75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8F7DC22-8DE3-1EA5-E301-C022595B11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2735D80-BF28-1E63-E10B-F10803BCE3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F383179-86C0-2DDB-426E-90C83D4A5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19E2620-4138-720C-1469-F46785533A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1DE2B0C-50B0-BB38-D3E6-01465E013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9474" y="577663"/>
            <a:ext cx="6233709" cy="772791"/>
          </a:xfrm>
        </p:spPr>
        <p:txBody>
          <a:bodyPr lIns="91440" tIns="45720" rIns="91440" bIns="45720">
            <a:normAutofit/>
          </a:bodyPr>
          <a:lstStyle/>
          <a:p>
            <a:pPr algn="r"/>
            <a:r>
              <a:rPr lang="en-US" sz="3600">
                <a:solidFill>
                  <a:schemeClr val="tx2"/>
                </a:solidFill>
                <a:latin typeface="Trade Gothic Next Heavy"/>
              </a:rPr>
              <a:t>ETL Pipeline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F080E26-20C5-C5BA-7DAA-AD83E4FD7D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25A2DAC-0F24-5E8E-CDC6-59B1C2C2F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304F6A9-002D-D20C-E569-829E2A0027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0C73C50-FC96-AF67-400F-49AC0A37E9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3F165F9-6602-C9B5-D1DF-F0F30D0710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6037B45-5512-69B7-4080-3ACCC1BBE268}"/>
              </a:ext>
            </a:extLst>
          </p:cNvPr>
          <p:cNvSpPr txBox="1"/>
          <p:nvPr/>
        </p:nvSpPr>
        <p:spPr>
          <a:xfrm>
            <a:off x="640209" y="2274531"/>
            <a:ext cx="438867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This portion of the application collects data from the Mongo DB server to parse and transform for a relational database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00BF26-263C-A69F-9D43-99B9C7D0F9AB}"/>
              </a:ext>
            </a:extLst>
          </p:cNvPr>
          <p:cNvSpPr txBox="1"/>
          <p:nvPr/>
        </p:nvSpPr>
        <p:spPr>
          <a:xfrm>
            <a:off x="640209" y="3677053"/>
            <a:ext cx="438867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Some fields required construction from multiple fields. (URL's involve destructing and rebuilding multiple fields)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04A85C-202F-36B9-B394-C1C1880FC545}"/>
              </a:ext>
            </a:extLst>
          </p:cNvPr>
          <p:cNvSpPr txBox="1"/>
          <p:nvPr/>
        </p:nvSpPr>
        <p:spPr>
          <a:xfrm>
            <a:off x="640209" y="5035400"/>
            <a:ext cx="405737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Calibri"/>
                <a:cs typeface="Calibri"/>
              </a:rPr>
              <a:t>Sends a trigger to Metrics to rerun SQL functions for up-to-date analytics. Allows modularity for quick and easy changes to the design</a:t>
            </a:r>
          </a:p>
        </p:txBody>
      </p:sp>
      <p:pic>
        <p:nvPicPr>
          <p:cNvPr id="6" name="Picture 5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D08E33C6-CF8C-BB6B-04B5-5657BE238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3374" y="1540357"/>
            <a:ext cx="7039945" cy="460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7254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D4416E-2534-A5CB-89B6-F0C35006A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B1B90BA-020C-0425-E077-4CB350E31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BD4E4A-BDCB-447B-1814-AD72AA4D6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9074A2-10D7-2AB4-2B13-39C7CC46C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D7215C9-030B-4666-8688-8F458FB56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2E87F76-56A5-A2C8-60CD-DFCD04BB7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7D89B3E-C7C1-4166-241B-23ADE3BE6A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5A22CA6-8B4C-D169-8075-30051734CF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E92F9B3-513E-BE38-65A5-9B59FC217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0762" y="464584"/>
            <a:ext cx="9269505" cy="772791"/>
          </a:xfrm>
        </p:spPr>
        <p:txBody>
          <a:bodyPr lIns="91440" tIns="45720" rIns="91440" bIns="45720">
            <a:normAutofit/>
          </a:bodyPr>
          <a:lstStyle/>
          <a:p>
            <a:pPr algn="r"/>
            <a:r>
              <a:rPr lang="en-US" sz="3600">
                <a:solidFill>
                  <a:schemeClr val="tx2"/>
                </a:solidFill>
                <a:latin typeface="Trade Gothic Next Heavy"/>
              </a:rPr>
              <a:t>Unlisted Video Metric Logging (Pt. 2) 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6013BA4-5E4E-4259-1A35-F70F38DB7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D778E70-B758-1542-F9E2-A56AF5F780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B8E36DA-A41A-2EF4-42CA-6EA0B4DBCE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4E7D7E48-2972-CC89-AE4E-7C2A0FEDB0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1416B1E-DE7E-B493-674C-2B3DE15195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4E97E75-4064-5BED-A32E-7A7B2DA89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965" y="1239620"/>
            <a:ext cx="5816122" cy="50363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C77796-C398-0522-FE4D-AD7CA94C491E}"/>
              </a:ext>
            </a:extLst>
          </p:cNvPr>
          <p:cNvSpPr txBox="1"/>
          <p:nvPr/>
        </p:nvSpPr>
        <p:spPr>
          <a:xfrm>
            <a:off x="513225" y="1236269"/>
            <a:ext cx="5067332" cy="60631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Structured Metadata Model</a:t>
            </a:r>
          </a:p>
          <a:p>
            <a:endParaRPr lang="en-US" b="1">
              <a:ea typeface="Calibri"/>
              <a:cs typeface="Calibri"/>
            </a:endParaRPr>
          </a:p>
          <a:p>
            <a:pPr marL="457200" indent="-457200">
              <a:buAutoNum type="arabicPeriod"/>
            </a:pPr>
            <a:r>
              <a:rPr lang="en-US" b="1">
                <a:ea typeface="Calibri"/>
                <a:cs typeface="Calibri"/>
              </a:rPr>
              <a:t>Use table prefixes to organize fields</a:t>
            </a:r>
          </a:p>
          <a:p>
            <a:pPr marL="457200" indent="-457200">
              <a:buAutoNum type="arabicPeriod"/>
            </a:pPr>
            <a:r>
              <a:rPr lang="en-US" b="1">
                <a:ea typeface="Calibri"/>
                <a:cs typeface="Calibri"/>
              </a:rPr>
              <a:t>Build constraint logic into the tables and the ETL pipeline to ensure atomic state when parsing and when inserting.</a:t>
            </a:r>
          </a:p>
          <a:p>
            <a:pPr marL="457200" indent="-457200">
              <a:buAutoNum type="arabicPeriod"/>
            </a:pPr>
            <a:r>
              <a:rPr lang="en-US" b="1">
                <a:ea typeface="Calibri"/>
                <a:cs typeface="Calibri"/>
              </a:rPr>
              <a:t>Category</a:t>
            </a:r>
          </a:p>
          <a:p>
            <a:pPr marL="914400" lvl="1" indent="-457200">
              <a:buFont typeface="Courier New"/>
              <a:buChar char="o"/>
            </a:pPr>
            <a:r>
              <a:rPr lang="en-US">
                <a:ea typeface="Calibri"/>
                <a:cs typeface="Calibri"/>
              </a:rPr>
              <a:t>Many to many relationship </a:t>
            </a:r>
          </a:p>
          <a:p>
            <a:pPr marL="914400" lvl="1" indent="-457200">
              <a:buFont typeface="Courier New"/>
              <a:buChar char="o"/>
            </a:pPr>
            <a:r>
              <a:rPr lang="en-US">
                <a:ea typeface="Calibri"/>
                <a:cs typeface="Calibri"/>
              </a:rPr>
              <a:t>Requires</a:t>
            </a:r>
            <a:r>
              <a:rPr lang="en-US" b="1">
                <a:ea typeface="Calibri"/>
                <a:cs typeface="Calibri"/>
              </a:rPr>
              <a:t> junction table </a:t>
            </a:r>
            <a:r>
              <a:rPr lang="en-US">
                <a:ea typeface="Calibri"/>
                <a:cs typeface="Calibri"/>
              </a:rPr>
              <a:t>to link videos to its categories</a:t>
            </a:r>
          </a:p>
          <a:p>
            <a:pPr marL="1371600" lvl="2" indent="-457200">
              <a:buFont typeface="Wingdings"/>
              <a:buChar char="§"/>
            </a:pPr>
            <a:r>
              <a:rPr lang="en-US">
                <a:ea typeface="Calibri"/>
                <a:cs typeface="Calibri"/>
              </a:rPr>
              <a:t>Categories = finite set</a:t>
            </a:r>
          </a:p>
          <a:p>
            <a:pPr marL="457200" indent="-457200">
              <a:buAutoNum type="arabicPeriod"/>
            </a:pPr>
            <a:r>
              <a:rPr lang="en-US" b="1">
                <a:ea typeface="Calibri"/>
                <a:cs typeface="Calibri"/>
              </a:rPr>
              <a:t>Tags</a:t>
            </a:r>
          </a:p>
          <a:p>
            <a:pPr marL="914400" lvl="1" indent="-457200">
              <a:buFont typeface="Courier New"/>
              <a:buChar char="o"/>
            </a:pPr>
            <a:r>
              <a:rPr lang="en-US">
                <a:ea typeface="Calibri"/>
                <a:cs typeface="Calibri"/>
              </a:rPr>
              <a:t>Many to many relationship</a:t>
            </a:r>
          </a:p>
          <a:p>
            <a:pPr marL="914400" lvl="1" indent="-457200">
              <a:buFont typeface="Courier New"/>
              <a:buChar char="o"/>
            </a:pPr>
            <a:r>
              <a:rPr lang="en-US">
                <a:ea typeface="Calibri"/>
                <a:cs typeface="Calibri"/>
              </a:rPr>
              <a:t>Messy, infinite, user-generated</a:t>
            </a:r>
          </a:p>
          <a:p>
            <a:pPr marL="914400" lvl="1" indent="-457200">
              <a:buFont typeface="Courier New"/>
              <a:buChar char="o"/>
            </a:pPr>
            <a:r>
              <a:rPr lang="en-US">
                <a:ea typeface="Calibri"/>
                <a:cs typeface="Calibri"/>
              </a:rPr>
              <a:t>Store each tag directly with video it belongs to</a:t>
            </a:r>
          </a:p>
          <a:p>
            <a:endParaRPr lang="en-US" b="1">
              <a:ea typeface="Calibri"/>
              <a:cs typeface="Calibri"/>
            </a:endParaRPr>
          </a:p>
          <a:p>
            <a:endParaRPr lang="en-US" sz="2000">
              <a:ea typeface="Calibri"/>
              <a:cs typeface="Calibri"/>
            </a:endParaRPr>
          </a:p>
          <a:p>
            <a:pPr algn="ctr"/>
            <a:endParaRPr lang="en-US" sz="2000">
              <a:ea typeface="Calibri"/>
              <a:cs typeface="Calibri"/>
            </a:endParaRPr>
          </a:p>
          <a:p>
            <a:pPr marL="342900" indent="-342900" algn="ctr">
              <a:buAutoNum type="arabicPeriod"/>
            </a:pPr>
            <a:endParaRPr lang="en-US" sz="2000">
              <a:ea typeface="Calibri"/>
              <a:cs typeface="Calibri"/>
            </a:endParaRPr>
          </a:p>
          <a:p>
            <a:pPr algn="ctr"/>
            <a:endParaRPr lang="en-US" sz="200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1306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51E75F-DC50-F803-8B3B-A525F6650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C62AD74-03AA-1623-E950-65CAD272F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21D766-BF92-F89C-AAF0-F5EDC0432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31B3621-B894-F1D7-701D-F74121C96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FB94953-0D3C-23C3-BB40-41DC64306C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32C3B54-4C30-5554-0066-D749A28120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6A08F96-10EF-44CA-78D9-F9B9D21C5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10436A7-F4FB-FAAE-AEF7-0C4143432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3BCE72-F572-C611-1F91-5878A78253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53" y="464584"/>
            <a:ext cx="7693314" cy="772791"/>
          </a:xfrm>
        </p:spPr>
        <p:txBody>
          <a:bodyPr lIns="91440" tIns="45720" rIns="91440" bIns="45720">
            <a:normAutofit/>
          </a:bodyPr>
          <a:lstStyle/>
          <a:p>
            <a:pPr algn="r"/>
            <a:r>
              <a:rPr lang="en-US" sz="3600">
                <a:solidFill>
                  <a:schemeClr val="tx2"/>
                </a:solidFill>
                <a:latin typeface="Trade Gothic Next Heavy"/>
              </a:rPr>
              <a:t>Database Design Sample  (SQL)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889CB3E-3B40-1459-689E-C23250929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0BF1C4B-8552-5E68-7805-29DE18038D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19FF1C1-CEB2-7DA6-FD63-537353D5A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8250C8B-4DA3-907C-588F-C9A22E16FA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0026CE4-0904-F721-B031-9AD1EA49E2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006AEA7-AF66-15F9-8FF0-2A5ABE9F8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112" y="1126435"/>
            <a:ext cx="8257776" cy="561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785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69922-D9E8-A675-918D-E61C3E14A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088FF8C-BE3E-6622-8D38-D70685D7E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84A5CD-6544-A6CD-326C-7DEB56CD3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2A5BCB3-3C2A-BF19-FE58-2CD855800B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316BAF1-201D-5346-F171-043D125EA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FC2EF42-4634-0006-CB9E-D1C8CFC597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7F3DBEA-8F87-3CD8-106B-02092424D7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02BEE2B-9735-B2EB-B6EE-DFAE50291E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421212-4320-86F8-C136-18785FF6F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0762" y="464584"/>
            <a:ext cx="9269505" cy="772791"/>
          </a:xfrm>
        </p:spPr>
        <p:txBody>
          <a:bodyPr lIns="91440" tIns="45720" rIns="91440" bIns="45720">
            <a:normAutofit/>
          </a:bodyPr>
          <a:lstStyle/>
          <a:p>
            <a:pPr algn="r"/>
            <a:r>
              <a:rPr lang="en-US" sz="3600">
                <a:solidFill>
                  <a:schemeClr val="tx2"/>
                </a:solidFill>
                <a:latin typeface="Trade Gothic Next Heavy"/>
              </a:rPr>
              <a:t>Unlisted Video Metric Logging (Pt. 1) 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F4FF6E3-EACD-76F5-9C22-D279CA3D0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B9306F6-8E91-7409-6BD7-1BAC9A59F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40D6C78-E4E8-7C86-B0B3-23EF6432F1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7E49D8-3A25-45E1-5402-1D5473D36D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2601E03-27D9-657F-867E-7346965B44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829865B-56BF-64BB-4587-CF1C5FD9EF0F}"/>
              </a:ext>
            </a:extLst>
          </p:cNvPr>
          <p:cNvSpPr txBox="1"/>
          <p:nvPr/>
        </p:nvSpPr>
        <p:spPr>
          <a:xfrm>
            <a:off x="513225" y="1236269"/>
            <a:ext cx="5067332" cy="53245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ea typeface="Calibri"/>
                <a:cs typeface="Calibri"/>
              </a:rPr>
              <a:t>Metrics Logging Pipeline:</a:t>
            </a: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Metrics is activated by The ETL node. It collects information such as average video length, number of videos collected, and longest playlist.</a:t>
            </a:r>
          </a:p>
          <a:p>
            <a:pPr marL="342900" indent="-342900">
              <a:buFont typeface="Arial"/>
              <a:buChar char="•"/>
            </a:pPr>
            <a:endParaRPr lang="en-US" sz="20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Metrics calls stored SQL functions to retrieve the most up to date data.</a:t>
            </a:r>
          </a:p>
          <a:p>
            <a:pPr marL="342900" indent="-342900">
              <a:buFont typeface="Arial"/>
              <a:buChar char="•"/>
            </a:pPr>
            <a:endParaRPr lang="en-US" sz="20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These metrics are written to a JSON file.</a:t>
            </a:r>
          </a:p>
          <a:p>
            <a:pPr marL="342900" indent="-342900">
              <a:buFont typeface="Arial"/>
              <a:buChar char="•"/>
            </a:pPr>
            <a:endParaRPr lang="en-US" sz="200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000">
                <a:ea typeface="Calibri"/>
                <a:cs typeface="Calibri"/>
              </a:rPr>
              <a:t>The JSON file is collected by </a:t>
            </a:r>
            <a:r>
              <a:rPr lang="en-US" sz="2000" err="1">
                <a:ea typeface="Calibri"/>
                <a:cs typeface="Calibri"/>
              </a:rPr>
              <a:t>Hoster</a:t>
            </a:r>
            <a:r>
              <a:rPr lang="en-US" sz="2000">
                <a:ea typeface="Calibri"/>
                <a:cs typeface="Calibri"/>
              </a:rPr>
              <a:t> which hosts metric data for pulling and viewing.</a:t>
            </a:r>
          </a:p>
          <a:p>
            <a:endParaRPr lang="en-US" sz="2000">
              <a:ea typeface="Calibri"/>
              <a:cs typeface="Calibri"/>
            </a:endParaRPr>
          </a:p>
          <a:p>
            <a:pPr algn="ctr"/>
            <a:endParaRPr lang="en-US" sz="2000">
              <a:ea typeface="Calibri"/>
              <a:cs typeface="Calibri"/>
            </a:endParaRPr>
          </a:p>
          <a:p>
            <a:pPr marL="342900" indent="-342900" algn="ctr">
              <a:buFont typeface="Arial"/>
              <a:buChar char="•"/>
            </a:pPr>
            <a:endParaRPr lang="en-US" sz="2000">
              <a:ea typeface="Calibri"/>
              <a:cs typeface="Calibri"/>
            </a:endParaRPr>
          </a:p>
          <a:p>
            <a:pPr algn="ctr"/>
            <a:endParaRPr lang="en-US" sz="2000">
              <a:ea typeface="Calibri"/>
              <a:cs typeface="Calibri"/>
            </a:endParaRPr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D21EBF50-2979-8CD2-F838-5A84E636CE81}"/>
              </a:ext>
            </a:extLst>
          </p:cNvPr>
          <p:cNvSpPr/>
          <p:nvPr/>
        </p:nvSpPr>
        <p:spPr>
          <a:xfrm>
            <a:off x="7035877" y="1716205"/>
            <a:ext cx="914399" cy="612647"/>
          </a:xfrm>
          <a:prstGeom prst="flowChartProcess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Process 4">
            <a:extLst>
              <a:ext uri="{FF2B5EF4-FFF2-40B4-BE49-F238E27FC236}">
                <a16:creationId xmlns:a16="http://schemas.microsoft.com/office/drawing/2014/main" id="{058A3C09-3AA8-CA35-CC75-F21E97ABEE09}"/>
              </a:ext>
            </a:extLst>
          </p:cNvPr>
          <p:cNvSpPr/>
          <p:nvPr/>
        </p:nvSpPr>
        <p:spPr>
          <a:xfrm>
            <a:off x="7037257" y="4889410"/>
            <a:ext cx="914399" cy="612647"/>
          </a:xfrm>
          <a:prstGeom prst="flowChartProcess">
            <a:avLst/>
          </a:prstGeom>
          <a:solidFill>
            <a:schemeClr val="tx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2F07EE84-65C2-117A-CE33-DED01D19F574}"/>
              </a:ext>
            </a:extLst>
          </p:cNvPr>
          <p:cNvSpPr/>
          <p:nvPr/>
        </p:nvSpPr>
        <p:spPr>
          <a:xfrm>
            <a:off x="8600047" y="2947000"/>
            <a:ext cx="914399" cy="1193672"/>
          </a:xfrm>
          <a:prstGeom prst="flowChartProcess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3C0A8F-D060-E8CC-2198-B6BA1447912A}"/>
              </a:ext>
            </a:extLst>
          </p:cNvPr>
          <p:cNvSpPr/>
          <p:nvPr/>
        </p:nvSpPr>
        <p:spPr>
          <a:xfrm>
            <a:off x="11096625" y="4793456"/>
            <a:ext cx="57150" cy="71437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CBBD8A1-DB4C-5D73-50BB-974D7FBC2D6A}"/>
              </a:ext>
            </a:extLst>
          </p:cNvPr>
          <p:cNvSpPr/>
          <p:nvPr/>
        </p:nvSpPr>
        <p:spPr>
          <a:xfrm>
            <a:off x="10858499" y="4441031"/>
            <a:ext cx="535781" cy="488156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F574DB6-7AEA-0537-0F60-813C8A0E9F5D}"/>
              </a:ext>
            </a:extLst>
          </p:cNvPr>
          <p:cNvSpPr/>
          <p:nvPr/>
        </p:nvSpPr>
        <p:spPr>
          <a:xfrm rot="2280000">
            <a:off x="7927180" y="2519362"/>
            <a:ext cx="726281" cy="297656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0860BDB8-402A-EEF3-23AF-B9F9F675B9CF}"/>
              </a:ext>
            </a:extLst>
          </p:cNvPr>
          <p:cNvSpPr/>
          <p:nvPr/>
        </p:nvSpPr>
        <p:spPr>
          <a:xfrm>
            <a:off x="8260555" y="5062537"/>
            <a:ext cx="2516981" cy="259556"/>
          </a:xfrm>
          <a:prstGeom prst="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1B2148-1FFE-4DA3-E213-04ED7C19A4B8}"/>
              </a:ext>
            </a:extLst>
          </p:cNvPr>
          <p:cNvSpPr txBox="1"/>
          <p:nvPr/>
        </p:nvSpPr>
        <p:spPr>
          <a:xfrm>
            <a:off x="7036593" y="183832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Metrics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B438969-5A83-0BB4-BDA6-34BA4D750A48}"/>
              </a:ext>
            </a:extLst>
          </p:cNvPr>
          <p:cNvSpPr txBox="1"/>
          <p:nvPr/>
        </p:nvSpPr>
        <p:spPr>
          <a:xfrm>
            <a:off x="8665367" y="2943224"/>
            <a:ext cx="27432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JSON</a:t>
            </a:r>
          </a:p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     .</a:t>
            </a:r>
          </a:p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     .</a:t>
            </a:r>
          </a:p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     .</a:t>
            </a:r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7031F8-126E-77D1-B065-9D22ED16BD09}"/>
              </a:ext>
            </a:extLst>
          </p:cNvPr>
          <p:cNvSpPr txBox="1"/>
          <p:nvPr/>
        </p:nvSpPr>
        <p:spPr>
          <a:xfrm>
            <a:off x="7122317" y="501967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err="1">
                <a:solidFill>
                  <a:schemeClr val="bg1"/>
                </a:solidFill>
                <a:ea typeface="Calibri"/>
                <a:cs typeface="Calibri"/>
              </a:rPr>
              <a:t>Hoster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048587-84EB-C255-4075-A659826B570D}"/>
              </a:ext>
            </a:extLst>
          </p:cNvPr>
          <p:cNvSpPr txBox="1"/>
          <p:nvPr/>
        </p:nvSpPr>
        <p:spPr>
          <a:xfrm>
            <a:off x="10856117" y="4505324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API</a:t>
            </a:r>
          </a:p>
        </p:txBody>
      </p:sp>
      <p:sp>
        <p:nvSpPr>
          <p:cNvPr id="32" name="Arrow: Left-Right 31">
            <a:extLst>
              <a:ext uri="{FF2B5EF4-FFF2-40B4-BE49-F238E27FC236}">
                <a16:creationId xmlns:a16="http://schemas.microsoft.com/office/drawing/2014/main" id="{4FCC4009-C4A4-84A2-AFCA-356044E11FF6}"/>
              </a:ext>
            </a:extLst>
          </p:cNvPr>
          <p:cNvSpPr/>
          <p:nvPr/>
        </p:nvSpPr>
        <p:spPr>
          <a:xfrm rot="18840000">
            <a:off x="7881622" y="4405729"/>
            <a:ext cx="816102" cy="256032"/>
          </a:xfrm>
          <a:prstGeom prst="leftRightArrow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973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01E5D6-A2FD-4BD8-5861-C1D5571A5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27805DD-5F3D-0221-A69B-61E308D86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216B54-1A10-B489-F442-166962A55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9551933-F760-1CC3-0AB4-BC2C68189F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B01686C-AC17-C6EC-E5FE-443DDE8A56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05E78EF-E6D2-4101-64AB-7F5C0DDD3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177C41B-C2CA-6852-AAC1-ACFCD1471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D5EC65-5761-A8AE-EF8E-6F615372C9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32D87D4-062E-F197-435E-CA66BCFAF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53" y="464584"/>
            <a:ext cx="7693314" cy="772791"/>
          </a:xfrm>
        </p:spPr>
        <p:txBody>
          <a:bodyPr lIns="91440" tIns="45720" rIns="91440" bIns="45720">
            <a:normAutofit/>
          </a:bodyPr>
          <a:lstStyle/>
          <a:p>
            <a:pPr algn="r"/>
            <a:r>
              <a:rPr lang="en-US" sz="3600">
                <a:solidFill>
                  <a:schemeClr val="tx2"/>
                </a:solidFill>
                <a:latin typeface="Trade Gothic Next Heavy"/>
              </a:rPr>
              <a:t>Metric Collection Sample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2F2D962-723B-04C7-282B-ED6AF56AD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CA14411-2C21-E62D-F75D-4A3FD1CFE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18B7E7B-4E39-33F2-5C0B-C409244945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3C7E67E-57A0-937D-6FFF-EF935A2740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59E4DE6-AFDF-F006-90FB-1BAEF0B421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CD55CDD-0875-B965-FE0A-549BB284B9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069" y="1238375"/>
            <a:ext cx="6632241" cy="5146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180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B4E338-B2A0-CC1A-927D-2A4FBDC84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E6A3880-DCBC-FB4A-B38A-85FD99CAD2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B6B8CB-1F4B-F015-5672-7FFB7D646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447D8E5-5911-C5D8-8C17-51A8C9BC2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BA84876-E5BF-1B37-2614-9936C251F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923C7BE-CAD6-6A11-8290-2A132F6A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2F28521-09EB-F23F-A93D-52C9CBB128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314E739-46E1-59FC-F947-1C7E890F7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8A6E39-363A-16F6-FE44-1648EA7B0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53" y="464584"/>
            <a:ext cx="7693314" cy="772791"/>
          </a:xfrm>
        </p:spPr>
        <p:txBody>
          <a:bodyPr lIns="91440" tIns="45720" rIns="91440" bIns="45720">
            <a:normAutofit fontScale="90000"/>
          </a:bodyPr>
          <a:lstStyle/>
          <a:p>
            <a:pPr algn="r"/>
            <a:r>
              <a:rPr lang="en-US" sz="3600">
                <a:solidFill>
                  <a:schemeClr val="tx2"/>
                </a:solidFill>
                <a:latin typeface="Trade Gothic Next Heavy"/>
              </a:rPr>
              <a:t>Problems Encountered &amp; Resolutions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3C1D51-D7F6-AF96-C8F3-2D8606985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3412" y="1600100"/>
            <a:ext cx="7382059" cy="4696810"/>
          </a:xfrm>
        </p:spPr>
        <p:txBody>
          <a:bodyPr anchor="t">
            <a:normAutofit/>
          </a:bodyPr>
          <a:lstStyle/>
          <a:p>
            <a:r>
              <a:rPr lang="en-US" sz="2000" b="1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Elasticsearch was silently failing initially, making debugging incredibly difficult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Had to improve logging in our application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Switched from </a:t>
            </a:r>
            <a:r>
              <a:rPr lang="en-US" sz="1800" err="1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ElasticsearchClient</a:t>
            </a:r>
            <a:r>
              <a:rPr lang="en-US" sz="1800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 class from NuGet package to a raw </a:t>
            </a:r>
            <a:r>
              <a:rPr lang="en-US" sz="1800" err="1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HttpClient</a:t>
            </a:r>
            <a:r>
              <a:rPr lang="en-US" sz="1800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 class to make failures more obvious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Sent requests directly to Elasticsearch server using the raw </a:t>
            </a:r>
            <a:r>
              <a:rPr lang="en-US" sz="1800" err="1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HttpClient</a:t>
            </a:r>
            <a:r>
              <a:rPr lang="en-US" sz="1800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 class </a:t>
            </a:r>
          </a:p>
          <a:p>
            <a:r>
              <a:rPr lang="en-US" sz="2000" b="1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We</a:t>
            </a:r>
            <a:r>
              <a:rPr lang="en-US" sz="2200" b="1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 lost a lot of data initially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In an earlier version of our script, database commits did not occur until all playlist search results were processed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Some search results had very large processing times, causing data loss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800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We altered our scripts to commit after each individual playlist was processed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BC0CEB9-EF19-31A2-78EA-96B465844E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E40BF39-44BB-3111-CDE6-9EE856584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B368ADED-2BDF-5A60-86B3-3A28E95236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10490B3-E3D3-98F7-BE0D-20663EBC3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EEBD3D1-7CE8-1F78-A808-60B287F984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C9DF2BE7-09A1-80BD-0455-9D523CC8C9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5617" y="1712912"/>
            <a:ext cx="4292311" cy="3536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503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AEA02E-56AB-D445-1FB8-B6A616AEE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61D5305-5D3E-2570-7AA4-1528F4809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943C13-8191-22CD-D1AB-B4CC9E636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E45A53A-C590-1FCB-9150-A59062A37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06AE972-B255-2D44-F011-79983B367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37FDFEC-B2BF-4867-E802-CB630DAB6F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4E311F8-A7C2-454B-1AD0-77023E5D9F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CFFF306-ECC5-C0D0-CD2B-4E735FB2B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147CFC8-A63F-33D2-7553-AFC9580C5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346" y="328513"/>
            <a:ext cx="7693314" cy="772791"/>
          </a:xfrm>
        </p:spPr>
        <p:txBody>
          <a:bodyPr lIns="91440" tIns="45720" rIns="91440" bIns="45720">
            <a:normAutofit/>
          </a:bodyPr>
          <a:lstStyle/>
          <a:p>
            <a:pPr algn="r"/>
            <a:r>
              <a:rPr lang="en-US" sz="3600">
                <a:solidFill>
                  <a:schemeClr val="tx2"/>
                </a:solidFill>
                <a:latin typeface="Trade Gothic Next Heavy"/>
              </a:rPr>
              <a:t>Future Work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1DB15D-A564-19C4-AE72-C1FB86B50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045" y="327720"/>
            <a:ext cx="8095984" cy="3433494"/>
          </a:xfrm>
        </p:spPr>
        <p:txBody>
          <a:bodyPr anchor="t">
            <a:normAutofit/>
          </a:bodyPr>
          <a:lstStyle/>
          <a:p>
            <a:endParaRPr lang="en-US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A46E6B9-55FA-3132-B7CE-F0B27537D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89F4C06-187B-DBE1-42CB-0E0CAB7E20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265CAA8-20AC-BB17-1A2D-DB2737839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F7A59F2-9DB7-E31E-013D-D0D77E6444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71292B7-5FFD-D397-2D18-2A5F1BAC57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79C94CB7-9C91-D1A2-B235-F0EDCA7EF16D}"/>
              </a:ext>
            </a:extLst>
          </p:cNvPr>
          <p:cNvSpPr/>
          <p:nvPr/>
        </p:nvSpPr>
        <p:spPr>
          <a:xfrm>
            <a:off x="2046134" y="1445243"/>
            <a:ext cx="3643010" cy="2308221"/>
          </a:xfrm>
          <a:prstGeom prst="rect">
            <a:avLst/>
          </a:prstGeom>
          <a:solidFill>
            <a:srgbClr val="E5E5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953938-8F48-BF07-E3D4-3EEBA0937FA2}"/>
              </a:ext>
            </a:extLst>
          </p:cNvPr>
          <p:cNvSpPr/>
          <p:nvPr/>
        </p:nvSpPr>
        <p:spPr>
          <a:xfrm>
            <a:off x="7211434" y="1445244"/>
            <a:ext cx="3704320" cy="2316979"/>
          </a:xfrm>
          <a:prstGeom prst="rect">
            <a:avLst/>
          </a:prstGeom>
          <a:solidFill>
            <a:srgbClr val="E5E5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22B1F7A1-3D60-BB4D-E820-1524614EF54B}"/>
              </a:ext>
            </a:extLst>
          </p:cNvPr>
          <p:cNvSpPr txBox="1">
            <a:spLocks/>
          </p:cNvSpPr>
          <p:nvPr/>
        </p:nvSpPr>
        <p:spPr>
          <a:xfrm>
            <a:off x="6515629" y="1096773"/>
            <a:ext cx="4020587" cy="239121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Find a way to accumulate data faster</a:t>
            </a:r>
          </a:p>
          <a:p>
            <a:pPr marL="0" indent="0" algn="ctr">
              <a:buNone/>
            </a:pPr>
            <a:r>
              <a:rPr lang="en-US" sz="1800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We were limited to scraping at a rate of 3 MB/s on one machine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FD463F6E-D026-1486-91C0-788FB9188255}"/>
              </a:ext>
            </a:extLst>
          </p:cNvPr>
          <p:cNvSpPr txBox="1">
            <a:spLocks/>
          </p:cNvSpPr>
          <p:nvPr/>
        </p:nvSpPr>
        <p:spPr>
          <a:xfrm>
            <a:off x="1425962" y="976342"/>
            <a:ext cx="3871690" cy="245722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Generate more intelligent searches that yield more results</a:t>
            </a:r>
            <a:endParaRPr lang="en-US" sz="18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sz="1800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Currently, searches are generated in a naïve way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12" name="Graphic 11" descr="Gauge with solid fill">
            <a:extLst>
              <a:ext uri="{FF2B5EF4-FFF2-40B4-BE49-F238E27FC236}">
                <a16:creationId xmlns:a16="http://schemas.microsoft.com/office/drawing/2014/main" id="{47E4C3EE-46D7-E798-4B9A-CCEF688FDB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82670" y="1812869"/>
            <a:ext cx="1881553" cy="1822938"/>
          </a:xfrm>
          <a:prstGeom prst="rect">
            <a:avLst/>
          </a:prstGeom>
        </p:spPr>
      </p:pic>
      <p:pic>
        <p:nvPicPr>
          <p:cNvPr id="20" name="Graphic 19" descr="Stuffed Toy with solid fill">
            <a:extLst>
              <a:ext uri="{FF2B5EF4-FFF2-40B4-BE49-F238E27FC236}">
                <a16:creationId xmlns:a16="http://schemas.microsoft.com/office/drawing/2014/main" id="{514D5A3F-963E-9E51-8BC4-A50D8E9D2D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38254" y="2280904"/>
            <a:ext cx="1114320" cy="98208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37C8731-86DD-D050-E337-1C1362DBEABD}"/>
              </a:ext>
            </a:extLst>
          </p:cNvPr>
          <p:cNvSpPr/>
          <p:nvPr/>
        </p:nvSpPr>
        <p:spPr>
          <a:xfrm>
            <a:off x="4463102" y="4343564"/>
            <a:ext cx="3572628" cy="2308221"/>
          </a:xfrm>
          <a:prstGeom prst="rect">
            <a:avLst/>
          </a:prstGeom>
          <a:solidFill>
            <a:srgbClr val="E5E5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18CB9CEF-CD9F-D150-037F-334ECBD27C47}"/>
              </a:ext>
            </a:extLst>
          </p:cNvPr>
          <p:cNvSpPr txBox="1">
            <a:spLocks/>
          </p:cNvSpPr>
          <p:nvPr/>
        </p:nvSpPr>
        <p:spPr>
          <a:xfrm>
            <a:off x="3936841" y="3979608"/>
            <a:ext cx="3681816" cy="242031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More Flexible API requests</a:t>
            </a:r>
          </a:p>
          <a:p>
            <a:pPr marL="0" indent="0" algn="ctr">
              <a:buNone/>
            </a:pPr>
            <a:r>
              <a:rPr lang="en-US" sz="1800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The current API pulls only metrics. This could be improved with dynamic stored procedures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" name="Moon 13">
            <a:extLst>
              <a:ext uri="{FF2B5EF4-FFF2-40B4-BE49-F238E27FC236}">
                <a16:creationId xmlns:a16="http://schemas.microsoft.com/office/drawing/2014/main" id="{64FA0721-53CB-7AC4-6D15-3624AE9FB3B4}"/>
              </a:ext>
            </a:extLst>
          </p:cNvPr>
          <p:cNvSpPr/>
          <p:nvPr/>
        </p:nvSpPr>
        <p:spPr>
          <a:xfrm rot="13620000">
            <a:off x="5553219" y="5209131"/>
            <a:ext cx="457200" cy="914400"/>
          </a:xfrm>
          <a:prstGeom prst="mo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Moon 25">
            <a:extLst>
              <a:ext uri="{FF2B5EF4-FFF2-40B4-BE49-F238E27FC236}">
                <a16:creationId xmlns:a16="http://schemas.microsoft.com/office/drawing/2014/main" id="{67B949FD-EBB3-BBC1-888B-3169A7125965}"/>
              </a:ext>
            </a:extLst>
          </p:cNvPr>
          <p:cNvSpPr/>
          <p:nvPr/>
        </p:nvSpPr>
        <p:spPr>
          <a:xfrm rot="7920000">
            <a:off x="5550756" y="5215309"/>
            <a:ext cx="457200" cy="914400"/>
          </a:xfrm>
          <a:prstGeom prst="mo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404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9AAF11-0AF2-BDA2-BC42-8A3D94D15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E473E58-5787-9D33-25A7-C62CF8CA05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A3CC94-0FDC-0232-9A75-1FE1E256C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92445AA-44A0-EE4B-8ACB-8CC7B22EC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724834F-127E-607D-EC4F-940CEE3E08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44912D4-CDF5-7C8A-E2EB-890FF259DB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FAE3C4B-0447-A563-DD7B-BFFB1E930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08CF0A-1CE6-0FD5-767B-E2167B48B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733FCBB-8EDC-6971-C47C-999E506D9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6953" y="464584"/>
            <a:ext cx="7693314" cy="772791"/>
          </a:xfrm>
        </p:spPr>
        <p:txBody>
          <a:bodyPr lIns="91440" tIns="45720" rIns="91440" bIns="45720">
            <a:normAutofit/>
          </a:bodyPr>
          <a:lstStyle/>
          <a:p>
            <a:pPr algn="r"/>
            <a:r>
              <a:rPr lang="en-US" sz="3600">
                <a:solidFill>
                  <a:schemeClr val="tx2"/>
                </a:solidFill>
                <a:latin typeface="Trade Gothic Next Heavy"/>
              </a:rPr>
              <a:t>Final Thoughts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F68C10-1045-7F7A-C912-8AB00F224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9429" y="1611637"/>
            <a:ext cx="8095984" cy="876097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sz="2400" b="1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A project of this nature has the potential to be useful in a couple of domains</a:t>
            </a:r>
            <a:endParaRPr lang="en-US" b="1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pPr marL="457200" lvl="1" indent="0">
              <a:buNone/>
            </a:pPr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582CFD1-A5B2-3E4D-2ED8-06C0950B5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4C66F4C-AC8E-849A-724B-78703CF3A1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1F2CFA3-3DC4-09D5-539B-2432B98EA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9A2E214-28DC-E60A-D113-1448B32DF9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98A35C1-987F-BA20-9251-90250DD57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D6E3840D-9D6B-0DAD-F04C-6C824770A250}"/>
              </a:ext>
            </a:extLst>
          </p:cNvPr>
          <p:cNvSpPr/>
          <p:nvPr/>
        </p:nvSpPr>
        <p:spPr>
          <a:xfrm>
            <a:off x="1071126" y="3422539"/>
            <a:ext cx="4860097" cy="3127332"/>
          </a:xfrm>
          <a:prstGeom prst="rect">
            <a:avLst/>
          </a:prstGeom>
          <a:solidFill>
            <a:srgbClr val="E5E5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FAC28209-2DA1-B526-0545-447BE3A1D6F9}"/>
              </a:ext>
            </a:extLst>
          </p:cNvPr>
          <p:cNvSpPr txBox="1">
            <a:spLocks/>
          </p:cNvSpPr>
          <p:nvPr/>
        </p:nvSpPr>
        <p:spPr>
          <a:xfrm>
            <a:off x="886595" y="3381983"/>
            <a:ext cx="4839217" cy="34230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pPr marL="457200" lvl="1" indent="0" algn="ctr">
              <a:buNone/>
            </a:pPr>
            <a:r>
              <a:rPr lang="en-US" sz="2000">
                <a:solidFill>
                  <a:schemeClr val="bg1"/>
                </a:solidFill>
                <a:ea typeface="Calibri"/>
                <a:cs typeface="Calibri"/>
              </a:rPr>
              <a:t>In the week since we've scraped this data, many of the videos we uncovered have been set to private or deleted </a:t>
            </a:r>
          </a:p>
          <a:p>
            <a:pPr marL="457200" lvl="1" indent="0" algn="ctr">
              <a:buNone/>
            </a:pPr>
            <a:r>
              <a:rPr lang="en-US" sz="2000" b="1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Unlisted content may be at risk of complete removal</a:t>
            </a:r>
          </a:p>
          <a:p>
            <a:pPr marL="457200" lvl="1" indent="0">
              <a:buNone/>
            </a:pPr>
            <a:endParaRPr lang="en-US" sz="20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83DA8C-D6BF-4945-334B-A5F6A56E10FD}"/>
              </a:ext>
            </a:extLst>
          </p:cNvPr>
          <p:cNvSpPr/>
          <p:nvPr/>
        </p:nvSpPr>
        <p:spPr>
          <a:xfrm>
            <a:off x="6269427" y="3432977"/>
            <a:ext cx="4807906" cy="3169085"/>
          </a:xfrm>
          <a:prstGeom prst="rect">
            <a:avLst/>
          </a:prstGeom>
          <a:solidFill>
            <a:srgbClr val="E5E5E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126440-D0CF-CDEC-7CA5-AE7A69E1FACC}"/>
              </a:ext>
            </a:extLst>
          </p:cNvPr>
          <p:cNvSpPr/>
          <p:nvPr/>
        </p:nvSpPr>
        <p:spPr>
          <a:xfrm>
            <a:off x="1071126" y="2660538"/>
            <a:ext cx="4870536" cy="72650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76C2EB-BCCE-A75F-0610-BEBF7E790CF9}"/>
              </a:ext>
            </a:extLst>
          </p:cNvPr>
          <p:cNvSpPr/>
          <p:nvPr/>
        </p:nvSpPr>
        <p:spPr>
          <a:xfrm>
            <a:off x="6269426" y="2660538"/>
            <a:ext cx="4839222" cy="75782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234EC5A4-137B-60B9-E8A7-5BDB90C0D58A}"/>
              </a:ext>
            </a:extLst>
          </p:cNvPr>
          <p:cNvSpPr txBox="1">
            <a:spLocks/>
          </p:cNvSpPr>
          <p:nvPr/>
        </p:nvSpPr>
        <p:spPr>
          <a:xfrm>
            <a:off x="6272786" y="3027079"/>
            <a:ext cx="4442560" cy="24731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pPr marL="457200" lvl="1" indent="0">
              <a:buNone/>
            </a:pPr>
            <a:endParaRPr lang="en-US" sz="20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marL="457200" lvl="1" indent="0" algn="ctr">
              <a:buNone/>
            </a:pPr>
            <a:r>
              <a:rPr lang="en-US" sz="2000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Generative AI products, such as Sora, rely on large volumes of video training data. </a:t>
            </a:r>
          </a:p>
          <a:p>
            <a:pPr marL="457200" lvl="1" indent="0" algn="ctr">
              <a:buNone/>
            </a:pPr>
            <a:r>
              <a:rPr lang="en-US" sz="2000" b="1">
                <a:solidFill>
                  <a:schemeClr val="bg1"/>
                </a:solidFill>
                <a:ea typeface="Calibri" panose="020F0502020204030204"/>
                <a:cs typeface="Calibri" panose="020F0502020204030204"/>
              </a:rPr>
              <a:t>A tool like this could help uncover new training data for these models</a:t>
            </a:r>
            <a:endParaRPr lang="en-US" b="1">
              <a:solidFill>
                <a:schemeClr val="bg1"/>
              </a:solidFill>
              <a:ea typeface="Calibri"/>
              <a:cs typeface="Calibr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F475E16E-5B4B-1599-176C-BFDC30C8E8D7}"/>
              </a:ext>
            </a:extLst>
          </p:cNvPr>
          <p:cNvSpPr txBox="1">
            <a:spLocks/>
          </p:cNvSpPr>
          <p:nvPr/>
        </p:nvSpPr>
        <p:spPr>
          <a:xfrm>
            <a:off x="1074486" y="2776558"/>
            <a:ext cx="4839217" cy="9178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Archival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140D9976-8965-D71B-8165-0A744FE5C0DE}"/>
              </a:ext>
            </a:extLst>
          </p:cNvPr>
          <p:cNvSpPr txBox="1">
            <a:spLocks/>
          </p:cNvSpPr>
          <p:nvPr/>
        </p:nvSpPr>
        <p:spPr>
          <a:xfrm>
            <a:off x="6272786" y="2776558"/>
            <a:ext cx="4839217" cy="9178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>
                <a:solidFill>
                  <a:schemeClr val="tx2"/>
                </a:solidFill>
                <a:ea typeface="Calibri" panose="020F0502020204030204"/>
                <a:cs typeface="Calibri" panose="020F0502020204030204"/>
              </a:rPr>
              <a:t>Training Data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  <a:p>
            <a:endParaRPr lang="en-US" sz="2000">
              <a:solidFill>
                <a:schemeClr val="tx2"/>
              </a:solidFill>
              <a:ea typeface="Calibri" panose="020F0502020204030204"/>
              <a:cs typeface="Calibri" panose="020F0502020204030204"/>
            </a:endParaRPr>
          </a:p>
        </p:txBody>
      </p:sp>
      <p:pic>
        <p:nvPicPr>
          <p:cNvPr id="27" name="Graphic 26" descr="Books on shelf outline">
            <a:extLst>
              <a:ext uri="{FF2B5EF4-FFF2-40B4-BE49-F238E27FC236}">
                <a16:creationId xmlns:a16="http://schemas.microsoft.com/office/drawing/2014/main" id="{EA60F3B6-8478-55E4-3854-A667EB39C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9954" y="5316415"/>
            <a:ext cx="914400" cy="914400"/>
          </a:xfrm>
          <a:prstGeom prst="rect">
            <a:avLst/>
          </a:prstGeom>
        </p:spPr>
      </p:pic>
      <p:pic>
        <p:nvPicPr>
          <p:cNvPr id="28" name="Graphic 27" descr="Basic Shapes outline">
            <a:extLst>
              <a:ext uri="{FF2B5EF4-FFF2-40B4-BE49-F238E27FC236}">
                <a16:creationId xmlns:a16="http://schemas.microsoft.com/office/drawing/2014/main" id="{101AAF68-2557-D1D6-0931-EAEB5E409F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27646" y="531641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4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1A2E44-732F-87D9-6A41-8C2A362A5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6C4CB40-01D4-88D5-8D2F-D9BF98FE19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DC0BF9-EF07-733B-D7CD-31C0E94C5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021E79F-4700-8904-AABD-0992D9163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8C5D6FE-519A-CD71-0D9D-93BB809AD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5660238-B10A-1558-E5EE-FB35AB0F62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4556257-B8BE-3252-824A-4C9C030D9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4A35D83-2DC2-0DFE-969E-A94ED53745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F2EE12E-4C2C-1AC7-B552-C9FCB56B7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0543" y="3044367"/>
            <a:ext cx="4489242" cy="772791"/>
          </a:xfrm>
        </p:spPr>
        <p:txBody>
          <a:bodyPr lIns="91440" tIns="45720" rIns="91440" bIns="45720">
            <a:noAutofit/>
          </a:bodyPr>
          <a:lstStyle/>
          <a:p>
            <a:pPr algn="r"/>
            <a:r>
              <a:rPr lang="en-US" sz="5400">
                <a:solidFill>
                  <a:schemeClr val="tx2"/>
                </a:solidFill>
                <a:latin typeface="Trade Gothic Next Heavy"/>
              </a:rPr>
              <a:t>System Demo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13FE54B-D300-37DC-96F7-1BA47BF49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1BD3278-F9BC-EB86-1436-96D935A5A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B1F31AA-0D5A-E4F0-7AA5-CD30B5139A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9D7AD89-A996-BA46-BA60-6EF31CAEF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8EE089E-F3F2-1ED3-A61F-8774BB441D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55431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ACF707-C31D-EF74-D490-A7AE87793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5E684DF-D042-8E29-D161-D4DC74A22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27DFAB-B130-2008-ADC4-ED798AE43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66DF50-5968-5E45-B858-BDC95F7AA7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67B859C-4981-BF61-E08C-5DBB71DDDE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751CF7E-0F96-4437-C154-760F975BD3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EADD8EA-3CBB-9F3C-F255-99F13B7F21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A9A368A-5D7D-83ED-FF88-DDF220BBA1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1BD7CD9-4199-80D7-8240-CFE7F345F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FA1E454-BB99-150E-5E6C-939A0125F6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E323CC3-5468-31FA-109B-379F7157D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E119A5B-DE87-6E48-6443-4C2D7278C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3DFD28C-1F04-35A6-BFFE-60E7FE489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 descr="Cat Saying Thank You GIFs | Tenor">
            <a:extLst>
              <a:ext uri="{FF2B5EF4-FFF2-40B4-BE49-F238E27FC236}">
                <a16:creationId xmlns:a16="http://schemas.microsoft.com/office/drawing/2014/main" id="{38B22211-3151-350D-6E36-1C4241A57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0" y="300038"/>
            <a:ext cx="7048500" cy="625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5620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21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Unlisted YouTube ETL Data Warehousing &amp; Cloud Search</vt:lpstr>
      <vt:lpstr>Project Overview &amp; Goals </vt:lpstr>
      <vt:lpstr>Data Description, Size &amp; Collection</vt:lpstr>
      <vt:lpstr>Platform Setting &amp; System Configuration Procedures</vt:lpstr>
      <vt:lpstr>System Design &amp; Architecture </vt:lpstr>
      <vt:lpstr>System Design &amp; Architecture Continued </vt:lpstr>
      <vt:lpstr>Big Data Processing Pipeline &amp; Data Transformations  (Pt. 1)</vt:lpstr>
      <vt:lpstr>Big Data Processing Pipeline &amp; Data Transformations  (Pt. 2)</vt:lpstr>
      <vt:lpstr>Big Data Processing Pipeline &amp; Data Transformations  (Pt. 3)</vt:lpstr>
      <vt:lpstr>Big Data Processing Pipeline &amp; Data Transformations  (Pt. 4)</vt:lpstr>
      <vt:lpstr>Database Design (MongoDB)</vt:lpstr>
      <vt:lpstr>ETL Pipeline</vt:lpstr>
      <vt:lpstr>Unlisted Video Metric Logging (Pt. 2) </vt:lpstr>
      <vt:lpstr>Database Design Sample  (SQL)</vt:lpstr>
      <vt:lpstr>Unlisted Video Metric Logging (Pt. 1) </vt:lpstr>
      <vt:lpstr>Metric Collection Sample</vt:lpstr>
      <vt:lpstr>Problems Encountered &amp; Resolutions</vt:lpstr>
      <vt:lpstr>Future Work</vt:lpstr>
      <vt:lpstr>Final Thoughts</vt:lpstr>
      <vt:lpstr>System Demo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Emma R Holmes</dc:creator>
  <cp:revision>2</cp:revision>
  <dcterms:created xsi:type="dcterms:W3CDTF">2023-02-22T14:54:41Z</dcterms:created>
  <dcterms:modified xsi:type="dcterms:W3CDTF">2025-12-05T02:46:59Z</dcterms:modified>
</cp:coreProperties>
</file>